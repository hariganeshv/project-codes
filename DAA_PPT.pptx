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4" d="100"/>
          <a:sy n="54" d="100"/>
        </p:scale>
        <p:origin x="114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9BE8-4EC8-6C3E-0FCD-5B30B6E026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E6166F-4DC5-19A9-E76F-2AF53A2881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1FE2F12-6D61-271A-B37B-076FB2C0D353}"/>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5" name="Footer Placeholder 4">
            <a:extLst>
              <a:ext uri="{FF2B5EF4-FFF2-40B4-BE49-F238E27FC236}">
                <a16:creationId xmlns:a16="http://schemas.microsoft.com/office/drawing/2014/main" id="{60F3325E-7155-E3BC-F6F9-0EF944F52D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71818-5CBA-5E5E-74BB-2308F9B9A40F}"/>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590422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E8228-ABBD-53EA-FEB8-F6750F2F73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5BD254-9434-C635-A3A8-9DFF68CA72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443339-2C1C-85D7-32A6-A9A89C2E58BF}"/>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5" name="Footer Placeholder 4">
            <a:extLst>
              <a:ext uri="{FF2B5EF4-FFF2-40B4-BE49-F238E27FC236}">
                <a16:creationId xmlns:a16="http://schemas.microsoft.com/office/drawing/2014/main" id="{C6A95BD6-25C5-51A1-2514-A79C8F38A6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A38B78-2AFB-92B7-AE8F-0B59E4B980E6}"/>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499001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2B44-6619-9827-1498-B422F3FC2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66256A-C467-5E32-D465-4DE82D74FA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3A493D-81D3-DF5A-A3C7-74DB342028DF}"/>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5" name="Footer Placeholder 4">
            <a:extLst>
              <a:ext uri="{FF2B5EF4-FFF2-40B4-BE49-F238E27FC236}">
                <a16:creationId xmlns:a16="http://schemas.microsoft.com/office/drawing/2014/main" id="{F2F11BF1-90DA-7072-09AC-B2DFB07BCB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A3C377-9527-FDFB-BA8B-5EA20E32E549}"/>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3828781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C9C50-590A-EEF0-EC0D-97E378FE08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611B8-8127-C820-8624-BAD48BE19C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BBF3C24-46CF-9580-8D0D-A7252D16EB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33005ED-6A09-1D2B-B49F-76BBE0DEC104}"/>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6" name="Footer Placeholder 5">
            <a:extLst>
              <a:ext uri="{FF2B5EF4-FFF2-40B4-BE49-F238E27FC236}">
                <a16:creationId xmlns:a16="http://schemas.microsoft.com/office/drawing/2014/main" id="{35A38DCB-9966-74C8-28C2-F2DEAB78BF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760131-F9EE-19A8-16F2-0B62E64A3E52}"/>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172233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44AC2-AAED-7846-FE50-E250612D39A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FB7E91-63B7-7C32-3F05-1B879D3669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D06922-6737-F524-2E78-0C4DEBAB05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99078D-22C3-23BB-A90C-FB00BB0EA3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3153AB-C33F-EA71-DAA4-6892B42B1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EB7C4E-4CBF-F408-3B99-4DF1ED186C3C}"/>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8" name="Footer Placeholder 7">
            <a:extLst>
              <a:ext uri="{FF2B5EF4-FFF2-40B4-BE49-F238E27FC236}">
                <a16:creationId xmlns:a16="http://schemas.microsoft.com/office/drawing/2014/main" id="{3FF310D4-C27F-7E6E-A3A3-76A5F0A335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D5EBF4-5D42-E031-CF23-39868050EDAB}"/>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3679727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DF45-E1AC-F20F-B98B-3CE62B6683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4AA199-C357-FCFA-3A0A-4FBD2AF2D6AC}"/>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4" name="Footer Placeholder 3">
            <a:extLst>
              <a:ext uri="{FF2B5EF4-FFF2-40B4-BE49-F238E27FC236}">
                <a16:creationId xmlns:a16="http://schemas.microsoft.com/office/drawing/2014/main" id="{4CFA80F7-EA62-AAC0-17BF-0AF7B9D518E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3D0C87-0A0E-1B99-070A-24006A1D3D9B}"/>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2683554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4E0A98-2E43-3919-C11A-2ABB2C302762}"/>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3" name="Footer Placeholder 2">
            <a:extLst>
              <a:ext uri="{FF2B5EF4-FFF2-40B4-BE49-F238E27FC236}">
                <a16:creationId xmlns:a16="http://schemas.microsoft.com/office/drawing/2014/main" id="{42B6EFF5-A95B-BD1F-FC98-CDE6AD9F9F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FF7C2FD-A2C6-6C85-1462-13F5DAB8E413}"/>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3264606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CD33E-867A-D35E-DC3D-58D1CF9584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E25E82-14AC-ECC5-A598-44D84FD5A5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95B529F-BA13-8E5F-CC51-C0F71D87B8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7E02B4-9282-8869-1C51-8B474E464594}"/>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6" name="Footer Placeholder 5">
            <a:extLst>
              <a:ext uri="{FF2B5EF4-FFF2-40B4-BE49-F238E27FC236}">
                <a16:creationId xmlns:a16="http://schemas.microsoft.com/office/drawing/2014/main" id="{D3FE3ADB-9EE7-253F-FA5C-3F280CF70F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6EA9CC-852B-BA69-B0B4-D37FB1C867E0}"/>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2374314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D0AEB-6B70-2CA4-0A47-8C05485EC1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5E9DF3-7639-7804-68AD-B509968E6F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940D9F6-3D94-5265-323D-1F7EAA8BF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14F4C1-D3FB-8D36-E082-D5D68DB2C372}"/>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6" name="Footer Placeholder 5">
            <a:extLst>
              <a:ext uri="{FF2B5EF4-FFF2-40B4-BE49-F238E27FC236}">
                <a16:creationId xmlns:a16="http://schemas.microsoft.com/office/drawing/2014/main" id="{2D3A8790-E839-8F9D-5BBE-19C7865243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5AE242-1026-53DC-C1C2-0684242D73ED}"/>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1449355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0ECFE-C095-F847-C5E3-CEF4931E1D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E86DF4-5FD2-4996-8FDE-C91AA89D27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12DDE3-B991-66B5-F20F-75EF6B1A87E6}"/>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5" name="Footer Placeholder 4">
            <a:extLst>
              <a:ext uri="{FF2B5EF4-FFF2-40B4-BE49-F238E27FC236}">
                <a16:creationId xmlns:a16="http://schemas.microsoft.com/office/drawing/2014/main" id="{0D0C4353-9139-A76A-5592-DFC9CFD86E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3FFC7F-1D5F-67DD-5A79-EBB28CF14D2C}"/>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1088151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C05C62-E192-5949-E078-DF133B3684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A29589-C68C-0A9E-7398-B1E4D2EDAD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A343DA-E070-1E99-1180-C1789CAA4FDB}"/>
              </a:ext>
            </a:extLst>
          </p:cNvPr>
          <p:cNvSpPr>
            <a:spLocks noGrp="1"/>
          </p:cNvSpPr>
          <p:nvPr>
            <p:ph type="dt" sz="half" idx="10"/>
          </p:nvPr>
        </p:nvSpPr>
        <p:spPr/>
        <p:txBody>
          <a:bodyPr/>
          <a:lstStyle/>
          <a:p>
            <a:fld id="{643EC1F8-CB25-4E30-B72B-3442653A0C77}" type="datetimeFigureOut">
              <a:rPr lang="en-IN" smtClean="0"/>
              <a:t>24-11-2025</a:t>
            </a:fld>
            <a:endParaRPr lang="en-IN"/>
          </a:p>
        </p:txBody>
      </p:sp>
      <p:sp>
        <p:nvSpPr>
          <p:cNvPr id="5" name="Footer Placeholder 4">
            <a:extLst>
              <a:ext uri="{FF2B5EF4-FFF2-40B4-BE49-F238E27FC236}">
                <a16:creationId xmlns:a16="http://schemas.microsoft.com/office/drawing/2014/main" id="{0288EB19-DB85-5812-D579-5A9618A089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2B0011-CE58-0639-7F23-2A862B48D42B}"/>
              </a:ext>
            </a:extLst>
          </p:cNvPr>
          <p:cNvSpPr>
            <a:spLocks noGrp="1"/>
          </p:cNvSpPr>
          <p:nvPr>
            <p:ph type="sldNum" sz="quarter" idx="12"/>
          </p:nvPr>
        </p:nvSpPr>
        <p:spPr/>
        <p:txBody>
          <a:bodyPr/>
          <a:lstStyle/>
          <a:p>
            <a:fld id="{6CA1EC78-8C50-4AC9-888F-CCB0B57397E1}" type="slidenum">
              <a:rPr lang="en-IN" smtClean="0"/>
              <a:t>‹#›</a:t>
            </a:fld>
            <a:endParaRPr lang="en-IN"/>
          </a:p>
        </p:txBody>
      </p:sp>
    </p:spTree>
    <p:extLst>
      <p:ext uri="{BB962C8B-B14F-4D97-AF65-F5344CB8AC3E}">
        <p14:creationId xmlns:p14="http://schemas.microsoft.com/office/powerpoint/2010/main" val="2105431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F0E388-7ACF-281F-405D-7D7D01F6F5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644E4F-A877-ECB5-FC80-0FA98B970E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7C4432-AECD-E3CD-DBA9-7816EACAFA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3EC1F8-CB25-4E30-B72B-3442653A0C77}" type="datetimeFigureOut">
              <a:rPr lang="en-IN" smtClean="0"/>
              <a:t>24-11-2025</a:t>
            </a:fld>
            <a:endParaRPr lang="en-IN"/>
          </a:p>
        </p:txBody>
      </p:sp>
      <p:sp>
        <p:nvSpPr>
          <p:cNvPr id="5" name="Footer Placeholder 4">
            <a:extLst>
              <a:ext uri="{FF2B5EF4-FFF2-40B4-BE49-F238E27FC236}">
                <a16:creationId xmlns:a16="http://schemas.microsoft.com/office/drawing/2014/main" id="{1D246079-0079-6A12-09DE-88544A54E0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50EA38C-F619-54E3-42FB-854F427A84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A1EC78-8C50-4AC9-888F-CCB0B57397E1}" type="slidenum">
              <a:rPr lang="en-IN" smtClean="0"/>
              <a:t>‹#›</a:t>
            </a:fld>
            <a:endParaRPr lang="en-IN"/>
          </a:p>
        </p:txBody>
      </p:sp>
    </p:spTree>
    <p:extLst>
      <p:ext uri="{BB962C8B-B14F-4D97-AF65-F5344CB8AC3E}">
        <p14:creationId xmlns:p14="http://schemas.microsoft.com/office/powerpoint/2010/main" val="3342495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4A5F65-18AD-8B5A-027E-6D593C36CE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7893" y="0"/>
            <a:ext cx="7976213" cy="1367072"/>
          </a:xfrm>
          <a:prstGeom prst="rect">
            <a:avLst/>
          </a:prstGeom>
        </p:spPr>
      </p:pic>
      <p:sp>
        <p:nvSpPr>
          <p:cNvPr id="3" name="TextBox 2">
            <a:extLst>
              <a:ext uri="{FF2B5EF4-FFF2-40B4-BE49-F238E27FC236}">
                <a16:creationId xmlns:a16="http://schemas.microsoft.com/office/drawing/2014/main" id="{AE0447E2-4660-BF90-8CEB-6D9237B13A67}"/>
              </a:ext>
            </a:extLst>
          </p:cNvPr>
          <p:cNvSpPr txBox="1"/>
          <p:nvPr/>
        </p:nvSpPr>
        <p:spPr>
          <a:xfrm>
            <a:off x="408431" y="1257015"/>
            <a:ext cx="11375135" cy="1200329"/>
          </a:xfrm>
          <a:prstGeom prst="rect">
            <a:avLst/>
          </a:prstGeom>
          <a:noFill/>
        </p:spPr>
        <p:txBody>
          <a:bodyPr wrap="square" rtlCol="0">
            <a:spAutoFit/>
          </a:bodyPr>
          <a:lstStyle/>
          <a:p>
            <a:pPr algn="ctr"/>
            <a:r>
              <a:rPr lang="en-IN" sz="3600" dirty="0">
                <a:latin typeface="Times New Roman" panose="02020603050405020304" pitchFamily="18" charset="0"/>
                <a:cs typeface="Times New Roman" panose="02020603050405020304" pitchFamily="18" charset="0"/>
              </a:rPr>
              <a:t>Blood Bank Connectivity System using Minimum Spanning Tree Algorithms (Prim &amp; Kruskal)</a:t>
            </a:r>
          </a:p>
        </p:txBody>
      </p:sp>
      <p:sp>
        <p:nvSpPr>
          <p:cNvPr id="4" name="TextBox 3">
            <a:extLst>
              <a:ext uri="{FF2B5EF4-FFF2-40B4-BE49-F238E27FC236}">
                <a16:creationId xmlns:a16="http://schemas.microsoft.com/office/drawing/2014/main" id="{FD9D302E-16A8-80A4-7CED-DD5DEF363DB6}"/>
              </a:ext>
            </a:extLst>
          </p:cNvPr>
          <p:cNvSpPr txBox="1"/>
          <p:nvPr/>
        </p:nvSpPr>
        <p:spPr>
          <a:xfrm>
            <a:off x="969484" y="2624087"/>
            <a:ext cx="10587209" cy="461665"/>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DESIGN AND ANALYSIS OF ALGORITHM LABORATORY – CSE23CL202</a:t>
            </a:r>
          </a:p>
        </p:txBody>
      </p:sp>
      <p:sp>
        <p:nvSpPr>
          <p:cNvPr id="5" name="TextBox 4">
            <a:extLst>
              <a:ext uri="{FF2B5EF4-FFF2-40B4-BE49-F238E27FC236}">
                <a16:creationId xmlns:a16="http://schemas.microsoft.com/office/drawing/2014/main" id="{CFCB3B0A-5052-8A54-7618-CD980EF396F7}"/>
              </a:ext>
            </a:extLst>
          </p:cNvPr>
          <p:cNvSpPr txBox="1"/>
          <p:nvPr/>
        </p:nvSpPr>
        <p:spPr>
          <a:xfrm>
            <a:off x="323496" y="4018235"/>
            <a:ext cx="4549966" cy="1446550"/>
          </a:xfrm>
          <a:prstGeom prst="rect">
            <a:avLst/>
          </a:prstGeom>
          <a:noFill/>
        </p:spPr>
        <p:txBody>
          <a:bodyPr wrap="square" rtlCol="0">
            <a:spAutoFit/>
          </a:bodyPr>
          <a:lstStyle/>
          <a:p>
            <a:r>
              <a:rPr lang="en-IN" sz="2200" dirty="0">
                <a:latin typeface="Times New Roman" panose="02020603050405020304" pitchFamily="18" charset="0"/>
                <a:cs typeface="Times New Roman" panose="02020603050405020304" pitchFamily="18" charset="0"/>
              </a:rPr>
              <a:t>DONE BY</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GANESH SRINIVASAN – E0524016</a:t>
            </a:r>
          </a:p>
          <a:p>
            <a:r>
              <a:rPr lang="en-IN" sz="2200" dirty="0">
                <a:latin typeface="Times New Roman" panose="02020603050405020304" pitchFamily="18" charset="0"/>
                <a:cs typeface="Times New Roman" panose="02020603050405020304" pitchFamily="18" charset="0"/>
              </a:rPr>
              <a:t>HARIGANESH.V – E0524007</a:t>
            </a:r>
          </a:p>
        </p:txBody>
      </p:sp>
      <p:sp>
        <p:nvSpPr>
          <p:cNvPr id="6" name="TextBox 5">
            <a:extLst>
              <a:ext uri="{FF2B5EF4-FFF2-40B4-BE49-F238E27FC236}">
                <a16:creationId xmlns:a16="http://schemas.microsoft.com/office/drawing/2014/main" id="{0FE0072C-8A67-2A65-E485-32E69F5125C1}"/>
              </a:ext>
            </a:extLst>
          </p:cNvPr>
          <p:cNvSpPr txBox="1"/>
          <p:nvPr/>
        </p:nvSpPr>
        <p:spPr>
          <a:xfrm>
            <a:off x="4351663" y="3327094"/>
            <a:ext cx="308472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DATE : 24 - 11 - 2025</a:t>
            </a:r>
          </a:p>
        </p:txBody>
      </p:sp>
      <p:sp>
        <p:nvSpPr>
          <p:cNvPr id="7" name="TextBox 6">
            <a:extLst>
              <a:ext uri="{FF2B5EF4-FFF2-40B4-BE49-F238E27FC236}">
                <a16:creationId xmlns:a16="http://schemas.microsoft.com/office/drawing/2014/main" id="{AA9325E0-4560-6FF4-E62F-245A6D1ED508}"/>
              </a:ext>
            </a:extLst>
          </p:cNvPr>
          <p:cNvSpPr txBox="1"/>
          <p:nvPr/>
        </p:nvSpPr>
        <p:spPr>
          <a:xfrm>
            <a:off x="7436386" y="4052299"/>
            <a:ext cx="3492871" cy="1107996"/>
          </a:xfrm>
          <a:prstGeom prst="rect">
            <a:avLst/>
          </a:prstGeom>
          <a:noFill/>
        </p:spPr>
        <p:txBody>
          <a:bodyPr wrap="square" rtlCol="0">
            <a:spAutoFit/>
          </a:bodyPr>
          <a:lstStyle/>
          <a:p>
            <a:r>
              <a:rPr lang="en-IN" sz="2200" dirty="0">
                <a:latin typeface="Times New Roman" panose="02020603050405020304" pitchFamily="18" charset="0"/>
                <a:cs typeface="Times New Roman" panose="02020603050405020304" pitchFamily="18" charset="0"/>
              </a:rPr>
              <a:t>FACULTY INCHARGE:</a:t>
            </a:r>
          </a:p>
          <a:p>
            <a:r>
              <a:rPr lang="en-IN" sz="2200" dirty="0">
                <a:latin typeface="Times New Roman" panose="02020603050405020304" pitchFamily="18" charset="0"/>
                <a:cs typeface="Times New Roman" panose="02020603050405020304" pitchFamily="18" charset="0"/>
              </a:rPr>
              <a:t>Examiner 1:Dr.AgastaAdline</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Examiner 2:Dr.Deepa</a:t>
            </a:r>
          </a:p>
        </p:txBody>
      </p:sp>
    </p:spTree>
    <p:extLst>
      <p:ext uri="{BB962C8B-B14F-4D97-AF65-F5344CB8AC3E}">
        <p14:creationId xmlns:p14="http://schemas.microsoft.com/office/powerpoint/2010/main" val="504323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0154C3-ACD6-368B-4D6B-6D4C6F73FBA5}"/>
              </a:ext>
            </a:extLst>
          </p:cNvPr>
          <p:cNvSpPr txBox="1"/>
          <p:nvPr/>
        </p:nvSpPr>
        <p:spPr>
          <a:xfrm>
            <a:off x="274320" y="704088"/>
            <a:ext cx="11512296" cy="584775"/>
          </a:xfrm>
          <a:prstGeom prst="rect">
            <a:avLst/>
          </a:prstGeom>
          <a:noFill/>
        </p:spPr>
        <p:txBody>
          <a:bodyPr wrap="square" rtlCol="0">
            <a:spAutoFit/>
          </a:bodyPr>
          <a:lstStyle/>
          <a:p>
            <a:pPr algn="ctr"/>
            <a:r>
              <a:rPr lang="en-IN" sz="3200" dirty="0">
                <a:solidFill>
                  <a:srgbClr val="FF0000"/>
                </a:solidFill>
                <a:latin typeface="Times New Roman" panose="02020603050405020304" pitchFamily="18" charset="0"/>
                <a:cs typeface="Times New Roman" panose="02020603050405020304" pitchFamily="18" charset="0"/>
              </a:rPr>
              <a:t>TABLE OF CONTENTS</a:t>
            </a:r>
          </a:p>
        </p:txBody>
      </p:sp>
      <p:sp>
        <p:nvSpPr>
          <p:cNvPr id="5" name="TextBox 4">
            <a:extLst>
              <a:ext uri="{FF2B5EF4-FFF2-40B4-BE49-F238E27FC236}">
                <a16:creationId xmlns:a16="http://schemas.microsoft.com/office/drawing/2014/main" id="{01489174-66CE-6A07-C7D8-E57A04737543}"/>
              </a:ext>
            </a:extLst>
          </p:cNvPr>
          <p:cNvSpPr txBox="1"/>
          <p:nvPr/>
        </p:nvSpPr>
        <p:spPr>
          <a:xfrm>
            <a:off x="3954018" y="1918454"/>
            <a:ext cx="6094476" cy="3785652"/>
          </a:xfrm>
          <a:prstGeom prst="rect">
            <a:avLst/>
          </a:prstGeom>
          <a:noFill/>
        </p:spPr>
        <p:txBody>
          <a:bodyPr wrap="square">
            <a:spAutoFit/>
          </a:bodyPr>
          <a:lstStyle/>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PROBLEM STATEMENT</a:t>
            </a:r>
          </a:p>
          <a:p>
            <a:pPr marL="285750" indent="-285750">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ALGORITHM</a:t>
            </a:r>
          </a:p>
          <a:p>
            <a:pPr marL="285750" indent="-285750">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IMPLEMENTATION</a:t>
            </a:r>
          </a:p>
          <a:p>
            <a:pPr marL="285750" indent="-285750">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SAMPLE INPUT &amp; OUTPUT</a:t>
            </a:r>
          </a:p>
          <a:p>
            <a:pPr marL="285750" indent="-285750">
              <a:buFont typeface="Wingdings" panose="05000000000000000000" pitchFamily="2" charset="2"/>
              <a:buChar char="v"/>
            </a:pPr>
            <a:endParaRPr lang="en-IN" sz="2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CONCLUSION</a:t>
            </a:r>
          </a:p>
          <a:p>
            <a:endParaRPr lang="en-IN"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8091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909B5-CD52-9E3B-1979-636D5E17F786}"/>
              </a:ext>
            </a:extLst>
          </p:cNvPr>
          <p:cNvSpPr txBox="1"/>
          <p:nvPr/>
        </p:nvSpPr>
        <p:spPr>
          <a:xfrm>
            <a:off x="634855" y="0"/>
            <a:ext cx="4224528" cy="523220"/>
          </a:xfrm>
          <a:prstGeom prst="rect">
            <a:avLst/>
          </a:prstGeom>
          <a:noFill/>
        </p:spPr>
        <p:txBody>
          <a:bodyPr wrap="square" rtlCol="0">
            <a:spAutoFit/>
          </a:bodyPr>
          <a:lstStyle/>
          <a:p>
            <a:r>
              <a:rPr lang="en-IN" sz="2800"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ED37477E-F726-DA77-A2E7-4265E22D3DAC}"/>
              </a:ext>
            </a:extLst>
          </p:cNvPr>
          <p:cNvSpPr txBox="1"/>
          <p:nvPr/>
        </p:nvSpPr>
        <p:spPr>
          <a:xfrm>
            <a:off x="364345" y="430856"/>
            <a:ext cx="11245596" cy="6961970"/>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In large cities and emergency healthcare networks, multiple blood banks must stay connected to ensure fast, reliable, and cost-effective transportation of blood between centers. However, building a fully connected network requires high operational and transport costs. Hence, there is a need for a system that identifies the most efficient way to interconnect blood banks using minimum cost </a:t>
            </a:r>
            <a:r>
              <a:rPr lang="en-US" sz="2000" dirty="0" err="1">
                <a:latin typeface="Times New Roman" panose="02020603050405020304" pitchFamily="18" charset="0"/>
                <a:cs typeface="Times New Roman" panose="02020603050405020304" pitchFamily="18" charset="0"/>
              </a:rPr>
              <a:t>links.This</a:t>
            </a:r>
            <a:r>
              <a:rPr lang="en-US" sz="2000" dirty="0">
                <a:latin typeface="Times New Roman" panose="02020603050405020304" pitchFamily="18" charset="0"/>
                <a:cs typeface="Times New Roman" panose="02020603050405020304" pitchFamily="18" charset="0"/>
              </a:rPr>
              <a:t> project builds a cost-efficient network between blood banks using MST algorithms. Each blood bank is a node, and the distance or transport cost becomes the edge.</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The system:</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Collects user info and blood group</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Accepts a weighted adjacency matrix</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Computes MST using Prim’s and Kruskal’s algorithms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Compares their cost and execution time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Recommends the better algorithm</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604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B17110-35F0-2E91-49C6-7C0772819A5C}"/>
              </a:ext>
            </a:extLst>
          </p:cNvPr>
          <p:cNvSpPr txBox="1"/>
          <p:nvPr/>
        </p:nvSpPr>
        <p:spPr>
          <a:xfrm>
            <a:off x="512064" y="277166"/>
            <a:ext cx="3995928" cy="707886"/>
          </a:xfrm>
          <a:prstGeom prst="rect">
            <a:avLst/>
          </a:prstGeom>
          <a:noFill/>
        </p:spPr>
        <p:txBody>
          <a:bodyPr wrap="square" rtlCol="0">
            <a:spAutoFit/>
          </a:bodyPr>
          <a:lstStyle/>
          <a:p>
            <a:r>
              <a:rPr lang="en-IN" sz="2000" b="1" dirty="0">
                <a:solidFill>
                  <a:srgbClr val="C00000"/>
                </a:solidFill>
                <a:latin typeface="Times New Roman" panose="02020603050405020304" pitchFamily="18" charset="0"/>
                <a:cs typeface="Times New Roman" panose="02020603050405020304" pitchFamily="18" charset="0"/>
              </a:rPr>
              <a:t>ALGORITHM</a:t>
            </a:r>
          </a:p>
          <a:p>
            <a:endParaRPr lang="en-IN" sz="2000" dirty="0"/>
          </a:p>
        </p:txBody>
      </p:sp>
      <p:sp>
        <p:nvSpPr>
          <p:cNvPr id="3" name="TextBox 2">
            <a:extLst>
              <a:ext uri="{FF2B5EF4-FFF2-40B4-BE49-F238E27FC236}">
                <a16:creationId xmlns:a16="http://schemas.microsoft.com/office/drawing/2014/main" id="{75C0417D-BB03-F291-79CC-5C9CDF973ADB}"/>
              </a:ext>
            </a:extLst>
          </p:cNvPr>
          <p:cNvSpPr txBox="1"/>
          <p:nvPr/>
        </p:nvSpPr>
        <p:spPr>
          <a:xfrm>
            <a:off x="512064" y="749808"/>
            <a:ext cx="10460736" cy="5693866"/>
          </a:xfrm>
          <a:prstGeom prst="rect">
            <a:avLst/>
          </a:prstGeom>
          <a:noFill/>
        </p:spPr>
        <p:txBody>
          <a:bodyPr wrap="square" rtlCol="0">
            <a:spAutoFit/>
          </a:bodyPr>
          <a:lstStyle/>
          <a:p>
            <a:pPr lvl="0" eaLnBrk="0" fontAlgn="base" hangingPunct="0">
              <a:spcBef>
                <a:spcPct val="0"/>
              </a:spcBef>
              <a:spcAft>
                <a:spcPct val="0"/>
              </a:spcAft>
            </a:pPr>
            <a:r>
              <a:rPr lang="en-IN" sz="2400" dirty="0">
                <a:latin typeface="Times New Roman" panose="02020603050405020304" pitchFamily="18" charset="0"/>
                <a:cs typeface="Times New Roman" panose="02020603050405020304" pitchFamily="18" charset="0"/>
              </a:rPr>
              <a:t>Prim’s Algorithm</a:t>
            </a: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1. Initialize:</a:t>
            </a:r>
          </a:p>
          <a:p>
            <a:pPr lvl="0" eaLnBrk="0" fontAlgn="base" hangingPunct="0">
              <a:spcBef>
                <a:spcPct val="0"/>
              </a:spcBef>
              <a:spcAft>
                <a:spcPct val="0"/>
              </a:spcAft>
              <a:buFontTx/>
              <a:buChar char="•"/>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INF for all nodes;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inMST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0.</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key[0] = 0 (start from node 0). parent[</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a:t>
            </a: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2. Repeat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n-1 times:</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Find the node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 not in MST with the smallest key[u]. </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Mark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 as included: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inMST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 = 1.</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For each neighbor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 of u (where graph[u][v] != INF):</a:t>
            </a:r>
            <a:endParaRPr lang="en-US" altLang="en-US" sz="2000" dirty="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If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inMST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 and graph[u][v] &lt; key[v] then:</a:t>
            </a:r>
            <a:endParaRPr lang="en-US" altLang="en-US" sz="2000" dirty="0">
              <a:latin typeface="Times New Roman" panose="02020603050405020304" pitchFamily="18" charset="0"/>
              <a:cs typeface="Times New Roman" panose="02020603050405020304" pitchFamily="18" charset="0"/>
            </a:endParaRPr>
          </a:p>
          <a:p>
            <a:pPr lvl="2" eaLnBrk="0" fontAlgn="base" hangingPunct="0">
              <a:spcBef>
                <a:spcPct val="0"/>
              </a:spcBef>
              <a:spcAft>
                <a:spcPct val="0"/>
              </a:spcAft>
              <a:buFontTx/>
              <a:buChar char="•"/>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key[v] = graph[u][v]</a:t>
            </a:r>
          </a:p>
          <a:p>
            <a:pPr lvl="2" eaLnBrk="0" fontAlgn="base" hangingPunct="0">
              <a:spcBef>
                <a:spcPct val="0"/>
              </a:spcBef>
              <a:spcAft>
                <a:spcPct val="0"/>
              </a:spcAft>
              <a:buFontTx/>
              <a:buChar char="•"/>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parent[v] = u</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3. Output:</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For </a:t>
            </a:r>
            <a:r>
              <a:rPr lang="en-US" altLang="en-US" sz="2000" dirty="0" err="1">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 = 1..n-1 print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parent[</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graph[</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][parent[</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Sum those weights →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Prim cost.</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4. Complexity: O(n²) in your current implementation </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Works well for dense graphs and small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
            </a:r>
            <a:endParaRPr lang="en-US" altLang="en-US" sz="20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8A2DC3D-9550-A4E8-C873-F3C45C82D4A7}"/>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51044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D88C15-E58F-8420-A294-8CF2EF638E7D}"/>
              </a:ext>
            </a:extLst>
          </p:cNvPr>
          <p:cNvSpPr txBox="1"/>
          <p:nvPr/>
        </p:nvSpPr>
        <p:spPr>
          <a:xfrm>
            <a:off x="621792" y="310896"/>
            <a:ext cx="4142232" cy="707886"/>
          </a:xfrm>
          <a:prstGeom prst="rect">
            <a:avLst/>
          </a:prstGeom>
          <a:noFill/>
        </p:spPr>
        <p:txBody>
          <a:bodyPr wrap="square" rtlCol="0">
            <a:spAutoFit/>
          </a:bodyPr>
          <a:lstStyle/>
          <a:p>
            <a:r>
              <a:rPr lang="en-IN" sz="2000" b="1" dirty="0">
                <a:solidFill>
                  <a:srgbClr val="C00000"/>
                </a:solidFill>
                <a:latin typeface="Times New Roman" panose="02020603050405020304" pitchFamily="18" charset="0"/>
                <a:cs typeface="Times New Roman" panose="02020603050405020304" pitchFamily="18" charset="0"/>
              </a:rPr>
              <a:t>ALGORITHM</a:t>
            </a:r>
          </a:p>
          <a:p>
            <a:endParaRPr lang="en-IN" sz="2000" dirty="0"/>
          </a:p>
        </p:txBody>
      </p:sp>
      <p:sp>
        <p:nvSpPr>
          <p:cNvPr id="4" name="TextBox 3">
            <a:extLst>
              <a:ext uri="{FF2B5EF4-FFF2-40B4-BE49-F238E27FC236}">
                <a16:creationId xmlns:a16="http://schemas.microsoft.com/office/drawing/2014/main" id="{75570959-F312-200C-6B7D-0CFC46530546}"/>
              </a:ext>
            </a:extLst>
          </p:cNvPr>
          <p:cNvSpPr txBox="1"/>
          <p:nvPr/>
        </p:nvSpPr>
        <p:spPr>
          <a:xfrm>
            <a:off x="374904" y="859536"/>
            <a:ext cx="11329416" cy="5078313"/>
          </a:xfrm>
          <a:prstGeom prst="rect">
            <a:avLst/>
          </a:prstGeom>
          <a:noFill/>
        </p:spPr>
        <p:txBody>
          <a:bodyPr wrap="square" rtlCol="0">
            <a:spAutoFit/>
          </a:bodyPr>
          <a:lstStyle/>
          <a:p>
            <a:pPr lvl="0" eaLnBrk="0" fontAlgn="base" hangingPunct="0">
              <a:spcBef>
                <a:spcPct val="0"/>
              </a:spcBef>
              <a:spcAft>
                <a:spcPct val="0"/>
              </a:spcAft>
            </a:pPr>
            <a:r>
              <a:rPr lang="en-IN" sz="2400" dirty="0">
                <a:latin typeface="Times New Roman" panose="02020603050405020304" pitchFamily="18" charset="0"/>
                <a:cs typeface="Times New Roman" panose="02020603050405020304" pitchFamily="18" charset="0"/>
              </a:rPr>
              <a:t>Kruskal’s Algorithm</a:t>
            </a: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1. Create edge list:</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Iterate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=0..n-1, j=i+1..n-1, if graph[</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 != INF add edge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i,j,w</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2. Sort edges by weight (</a:t>
            </a:r>
            <a:r>
              <a:rPr lang="en-US" altLang="en-US" sz="2000" dirty="0" err="1">
                <a:latin typeface="Times New Roman" panose="02020603050405020304" pitchFamily="18" charset="0"/>
                <a:cs typeface="Times New Roman" panose="02020603050405020304" pitchFamily="18" charset="0"/>
              </a:rPr>
              <a:t>qsort</a:t>
            </a:r>
            <a:r>
              <a:rPr lang="en-US" altLang="en-US" sz="2000" dirty="0">
                <a:latin typeface="Times New Roman" panose="02020603050405020304" pitchFamily="18" charset="0"/>
                <a:cs typeface="Times New Roman" panose="02020603050405020304" pitchFamily="18" charset="0"/>
              </a:rPr>
              <a:t> used).</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3. Initialize union-find:</a:t>
            </a:r>
          </a:p>
          <a:p>
            <a:pPr lvl="0" eaLnBrk="0" fontAlgn="base" hangingPunct="0">
              <a:spcBef>
                <a:spcPct val="0"/>
              </a:spcBef>
              <a:spcAft>
                <a:spcPct val="0"/>
              </a:spcAft>
              <a:buFontTx/>
              <a:buChar char="•"/>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parent[</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rank[</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0.</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4. Iterate sorted edges: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For each edge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u,v,w</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If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find_set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 !=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find_set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t>
            </a:r>
            <a:endParaRPr lang="en-US" altLang="en-US" sz="2000" dirty="0">
              <a:latin typeface="Times New Roman" panose="02020603050405020304" pitchFamily="18" charset="0"/>
              <a:cs typeface="Times New Roman" panose="02020603050405020304" pitchFamily="18" charset="0"/>
            </a:endParaRPr>
          </a:p>
          <a:p>
            <a:pPr lvl="2"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print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 - v : w</a:t>
            </a:r>
          </a:p>
          <a:p>
            <a:pPr lvl="2" eaLnBrk="0" fontAlgn="base" hangingPunct="0">
              <a:spcBef>
                <a:spcPct val="0"/>
              </a:spcBef>
              <a:spcAft>
                <a:spcPct val="0"/>
              </a:spcAft>
              <a:buFontTx/>
              <a:buChar char="•"/>
            </a:pP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union_set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u,v</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2"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add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 to total, increment edge count (taken++)</a:t>
            </a:r>
            <a:endParaRPr lang="en-US" altLang="en-US" sz="2000" dirty="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Stop when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taken == n-1.</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5. Complexity: O(E log E) dominated by sorting. Works well on sparse graphs (small E relative to n²).</a:t>
            </a:r>
          </a:p>
          <a:p>
            <a:endParaRPr lang="en-IN" sz="20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25591F42-3894-306C-1711-B29702D35A5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6730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55CBDC-EB18-3F21-F50E-CB610E977A7B}"/>
              </a:ext>
            </a:extLst>
          </p:cNvPr>
          <p:cNvSpPr txBox="1"/>
          <p:nvPr/>
        </p:nvSpPr>
        <p:spPr>
          <a:xfrm>
            <a:off x="548640" y="365760"/>
            <a:ext cx="7690104" cy="461665"/>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WHY PRIM’S  AND KRUSKAL’S ALGORITHM?</a:t>
            </a:r>
          </a:p>
        </p:txBody>
      </p:sp>
      <p:sp>
        <p:nvSpPr>
          <p:cNvPr id="4" name="TextBox 3">
            <a:extLst>
              <a:ext uri="{FF2B5EF4-FFF2-40B4-BE49-F238E27FC236}">
                <a16:creationId xmlns:a16="http://schemas.microsoft.com/office/drawing/2014/main" id="{BFDD5C13-A398-4DA0-8A34-492AAD6F5456}"/>
              </a:ext>
            </a:extLst>
          </p:cNvPr>
          <p:cNvSpPr txBox="1"/>
          <p:nvPr/>
        </p:nvSpPr>
        <p:spPr>
          <a:xfrm>
            <a:off x="457200" y="1307592"/>
            <a:ext cx="11094720" cy="2345322"/>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You use both Prim’s and Kruskal’s in this project because: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Sometimes Prim’s is faster for dense/complete networks.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Sometimes Kruskal’s is faster for sparse networks.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Running both allows you to compare total cost and execution time.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Your program recommends the best algorithm based on performance.</a:t>
            </a:r>
          </a:p>
        </p:txBody>
      </p:sp>
    </p:spTree>
    <p:extLst>
      <p:ext uri="{BB962C8B-B14F-4D97-AF65-F5344CB8AC3E}">
        <p14:creationId xmlns:p14="http://schemas.microsoft.com/office/powerpoint/2010/main" val="2969051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48A8E5-6729-DADA-6982-A302E7E57017}"/>
              </a:ext>
            </a:extLst>
          </p:cNvPr>
          <p:cNvSpPr txBox="1"/>
          <p:nvPr/>
        </p:nvSpPr>
        <p:spPr>
          <a:xfrm>
            <a:off x="475488" y="192024"/>
            <a:ext cx="5193792" cy="461665"/>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IMPLEMENTATION</a:t>
            </a:r>
          </a:p>
        </p:txBody>
      </p:sp>
      <p:sp>
        <p:nvSpPr>
          <p:cNvPr id="3" name="TextBox 2">
            <a:extLst>
              <a:ext uri="{FF2B5EF4-FFF2-40B4-BE49-F238E27FC236}">
                <a16:creationId xmlns:a16="http://schemas.microsoft.com/office/drawing/2014/main" id="{BA778909-DD8D-4C38-D371-CB5D51BF9126}"/>
              </a:ext>
            </a:extLst>
          </p:cNvPr>
          <p:cNvSpPr txBox="1"/>
          <p:nvPr/>
        </p:nvSpPr>
        <p:spPr>
          <a:xfrm>
            <a:off x="475488" y="1042416"/>
            <a:ext cx="11716512" cy="5444054"/>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Modular Menu-Driven System</a:t>
            </a:r>
          </a:p>
          <a:p>
            <a:pPr>
              <a:lnSpc>
                <a:spcPct val="150000"/>
              </a:lnSpc>
            </a:pPr>
            <a:r>
              <a:rPr lang="en-US" dirty="0">
                <a:latin typeface="Times New Roman" panose="02020603050405020304" pitchFamily="18" charset="0"/>
                <a:cs typeface="Times New Roman" panose="02020603050405020304" pitchFamily="18" charset="0"/>
              </a:rPr>
              <a:t>The program uses a menu-based structure with options for entering personal details, blood group, graph input, MST computation, and algorithm comparison. Each module is implemented as a separate function.</a:t>
            </a:r>
          </a:p>
          <a:p>
            <a:pPr>
              <a:lnSpc>
                <a:spcPct val="150000"/>
              </a:lnSpc>
            </a:pPr>
            <a:r>
              <a:rPr lang="en-US" b="1" dirty="0">
                <a:latin typeface="Times New Roman" panose="02020603050405020304" pitchFamily="18" charset="0"/>
                <a:cs typeface="Times New Roman" panose="02020603050405020304" pitchFamily="18" charset="0"/>
              </a:rPr>
              <a:t>2. Graph Input Using Adjacency Matrix</a:t>
            </a:r>
          </a:p>
          <a:p>
            <a:pPr>
              <a:lnSpc>
                <a:spcPct val="150000"/>
              </a:lnSpc>
            </a:pPr>
            <a:r>
              <a:rPr lang="en-US" dirty="0">
                <a:latin typeface="Times New Roman" panose="02020603050405020304" pitchFamily="18" charset="0"/>
                <a:cs typeface="Times New Roman" panose="02020603050405020304" pitchFamily="18" charset="0"/>
              </a:rPr>
              <a:t>The blood bank network is stored in a 10×10 adjacency matrix (graph[MAXN][MAXN]).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code converts 0 to INF to indicate no direct connection, and also ensures the matrix is symmetrical for an undirected graph.</a:t>
            </a:r>
          </a:p>
          <a:p>
            <a:pPr>
              <a:lnSpc>
                <a:spcPct val="150000"/>
              </a:lnSpc>
            </a:pPr>
            <a:r>
              <a:rPr lang="en-US" b="1" dirty="0">
                <a:latin typeface="Times New Roman" panose="02020603050405020304" pitchFamily="18" charset="0"/>
                <a:cs typeface="Times New Roman" panose="02020603050405020304" pitchFamily="18" charset="0"/>
              </a:rPr>
              <a:t>3. Prim’s Algorithm Implementation</a:t>
            </a:r>
          </a:p>
          <a:p>
            <a:pPr>
              <a:lnSpc>
                <a:spcPct val="150000"/>
              </a:lnSpc>
            </a:pPr>
            <a:r>
              <a:rPr lang="en-US" dirty="0">
                <a:latin typeface="Times New Roman" panose="02020603050405020304" pitchFamily="18" charset="0"/>
                <a:cs typeface="Times New Roman" panose="02020603050405020304" pitchFamily="18" charset="0"/>
              </a:rPr>
              <a:t>Prim's MST is implemented using:</a:t>
            </a:r>
          </a:p>
          <a:p>
            <a:pPr>
              <a:lnSpc>
                <a:spcPct val="150000"/>
              </a:lnSpc>
            </a:pPr>
            <a:r>
              <a:rPr lang="en-US" dirty="0">
                <a:latin typeface="Times New Roman" panose="02020603050405020304" pitchFamily="18" charset="0"/>
                <a:cs typeface="Times New Roman" panose="02020603050405020304" pitchFamily="18" charset="0"/>
              </a:rPr>
              <a:t>key[] array to track minimum weights</a:t>
            </a:r>
          </a:p>
          <a:p>
            <a:pPr>
              <a:lnSpc>
                <a:spcPct val="150000"/>
              </a:lnSpc>
            </a:pPr>
            <a:r>
              <a:rPr lang="en-US" dirty="0" err="1">
                <a:latin typeface="Times New Roman" panose="02020603050405020304" pitchFamily="18" charset="0"/>
                <a:cs typeface="Times New Roman" panose="02020603050405020304" pitchFamily="18" charset="0"/>
              </a:rPr>
              <a:t>inMST</a:t>
            </a:r>
            <a:r>
              <a:rPr lang="en-US" dirty="0">
                <a:latin typeface="Times New Roman" panose="02020603050405020304" pitchFamily="18" charset="0"/>
                <a:cs typeface="Times New Roman" panose="02020603050405020304" pitchFamily="18" charset="0"/>
              </a:rPr>
              <a:t>[] to mark visited nodes</a:t>
            </a:r>
          </a:p>
          <a:p>
            <a:pPr>
              <a:lnSpc>
                <a:spcPct val="150000"/>
              </a:lnSpc>
            </a:pPr>
            <a:r>
              <a:rPr lang="en-US" dirty="0">
                <a:latin typeface="Times New Roman" panose="02020603050405020304" pitchFamily="18" charset="0"/>
                <a:cs typeface="Times New Roman" panose="02020603050405020304" pitchFamily="18" charset="0"/>
              </a:rPr>
              <a:t>parent[] to store the MST structure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algorithm runs n–1 iterations and prints each MST edge.</a:t>
            </a:r>
          </a:p>
        </p:txBody>
      </p:sp>
    </p:spTree>
    <p:extLst>
      <p:ext uri="{BB962C8B-B14F-4D97-AF65-F5344CB8AC3E}">
        <p14:creationId xmlns:p14="http://schemas.microsoft.com/office/powerpoint/2010/main" val="3410490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F9F312-D868-38D2-F812-B06E5343A2D3}"/>
              </a:ext>
            </a:extLst>
          </p:cNvPr>
          <p:cNvSpPr txBox="1"/>
          <p:nvPr/>
        </p:nvSpPr>
        <p:spPr>
          <a:xfrm>
            <a:off x="429768" y="969264"/>
            <a:ext cx="11640312" cy="3782061"/>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4. Kruskal’s Algorithm with Union-Find</a:t>
            </a:r>
          </a:p>
          <a:p>
            <a:pPr>
              <a:lnSpc>
                <a:spcPct val="150000"/>
              </a:lnSpc>
            </a:pPr>
            <a:r>
              <a:rPr lang="en-US" dirty="0">
                <a:latin typeface="Times New Roman" panose="02020603050405020304" pitchFamily="18" charset="0"/>
                <a:cs typeface="Times New Roman" panose="02020603050405020304" pitchFamily="18" charset="0"/>
              </a:rPr>
              <a:t>Kruskal’s MST uses:</a:t>
            </a:r>
          </a:p>
          <a:p>
            <a:pPr>
              <a:lnSpc>
                <a:spcPct val="150000"/>
              </a:lnSpc>
            </a:pPr>
            <a:r>
              <a:rPr lang="en-US" dirty="0">
                <a:latin typeface="Times New Roman" panose="02020603050405020304" pitchFamily="18" charset="0"/>
                <a:cs typeface="Times New Roman" panose="02020603050405020304" pitchFamily="18" charset="0"/>
              </a:rPr>
              <a:t>An edge list extracted from the matrix</a:t>
            </a:r>
          </a:p>
          <a:p>
            <a:pPr>
              <a:lnSpc>
                <a:spcPct val="150000"/>
              </a:lnSpc>
            </a:pPr>
            <a:r>
              <a:rPr lang="en-US" dirty="0">
                <a:latin typeface="Times New Roman" panose="02020603050405020304" pitchFamily="18" charset="0"/>
                <a:cs typeface="Times New Roman" panose="02020603050405020304" pitchFamily="18" charset="0"/>
              </a:rPr>
              <a:t>Sorting using </a:t>
            </a:r>
            <a:r>
              <a:rPr lang="en-US" dirty="0" err="1">
                <a:latin typeface="Times New Roman" panose="02020603050405020304" pitchFamily="18" charset="0"/>
                <a:cs typeface="Times New Roman" panose="02020603050405020304" pitchFamily="18" charset="0"/>
              </a:rPr>
              <a:t>qsort</a:t>
            </a:r>
            <a:r>
              <a:rPr lang="en-US" dirty="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Cycle detection using Union-Find (</a:t>
            </a:r>
            <a:r>
              <a:rPr lang="en-US" dirty="0" err="1">
                <a:latin typeface="Times New Roman" panose="02020603050405020304" pitchFamily="18" charset="0"/>
                <a:cs typeface="Times New Roman" panose="02020603050405020304" pitchFamily="18" charset="0"/>
              </a:rPr>
              <a:t>find_set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union_set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selects the globally smallest edges while avoiding cycles.</a:t>
            </a:r>
          </a:p>
          <a:p>
            <a:pPr>
              <a:lnSpc>
                <a:spcPct val="150000"/>
              </a:lnSpc>
            </a:pPr>
            <a:r>
              <a:rPr lang="en-US" b="1" dirty="0">
                <a:latin typeface="Times New Roman" panose="02020603050405020304" pitchFamily="18" charset="0"/>
                <a:cs typeface="Times New Roman" panose="02020603050405020304" pitchFamily="18" charset="0"/>
              </a:rPr>
              <a:t>5. Performance Measurement &amp; Final Recommendation</a:t>
            </a:r>
          </a:p>
          <a:p>
            <a:pPr>
              <a:lnSpc>
                <a:spcPct val="150000"/>
              </a:lnSpc>
            </a:pPr>
            <a:r>
              <a:rPr lang="en-US" dirty="0">
                <a:latin typeface="Times New Roman" panose="02020603050405020304" pitchFamily="18" charset="0"/>
                <a:cs typeface="Times New Roman" panose="02020603050405020304" pitchFamily="18" charset="0"/>
              </a:rPr>
              <a:t>The program measures execution time using </a:t>
            </a:r>
            <a:r>
              <a:rPr lang="en-US" dirty="0" err="1">
                <a:latin typeface="Times New Roman" panose="02020603050405020304" pitchFamily="18" charset="0"/>
                <a:cs typeface="Times New Roman" panose="02020603050405020304" pitchFamily="18" charset="0"/>
              </a:rPr>
              <a:t>clock_gettime</a:t>
            </a:r>
            <a:r>
              <a:rPr lang="en-US" dirty="0">
                <a:latin typeface="Times New Roman" panose="02020603050405020304" pitchFamily="18" charset="0"/>
                <a:cs typeface="Times New Roman" panose="02020603050405020304" pitchFamily="18" charset="0"/>
              </a:rPr>
              <a:t>(), compares MST cost and time taken for both Prim and Kruskal, and prints a final sentence recommending which algorithm is best for the given user name and blood group.</a:t>
            </a:r>
          </a:p>
        </p:txBody>
      </p:sp>
    </p:spTree>
    <p:extLst>
      <p:ext uri="{BB962C8B-B14F-4D97-AF65-F5344CB8AC3E}">
        <p14:creationId xmlns:p14="http://schemas.microsoft.com/office/powerpoint/2010/main" val="1797523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B09329-873C-AB7B-C7A1-67ABD7493F3A}"/>
              </a:ext>
            </a:extLst>
          </p:cNvPr>
          <p:cNvSpPr txBox="1"/>
          <p:nvPr/>
        </p:nvSpPr>
        <p:spPr>
          <a:xfrm>
            <a:off x="496455" y="329184"/>
            <a:ext cx="5056632" cy="461665"/>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SAMPLE INPUT &amp; OUTPUT</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21CF6C4-924E-C435-4290-0690DCDCC115}"/>
              </a:ext>
            </a:extLst>
          </p:cNvPr>
          <p:cNvSpPr txBox="1"/>
          <p:nvPr/>
        </p:nvSpPr>
        <p:spPr>
          <a:xfrm>
            <a:off x="391670" y="1874079"/>
            <a:ext cx="5340096"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system successfully received the number of blood banks and stored the entered 5×5 adjacency matrix representing the connections between them.</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9D3E24-0907-C829-A1A6-A5A8081E5712}"/>
              </a:ext>
            </a:extLst>
          </p:cNvPr>
          <p:cNvPicPr>
            <a:picLocks noChangeAspect="1"/>
          </p:cNvPicPr>
          <p:nvPr/>
        </p:nvPicPr>
        <p:blipFill>
          <a:blip r:embed="rId2"/>
          <a:stretch>
            <a:fillRect/>
          </a:stretch>
        </p:blipFill>
        <p:spPr>
          <a:xfrm>
            <a:off x="384048" y="3247166"/>
            <a:ext cx="4529330" cy="1626852"/>
          </a:xfrm>
          <a:prstGeom prst="rect">
            <a:avLst/>
          </a:prstGeom>
        </p:spPr>
      </p:pic>
      <p:pic>
        <p:nvPicPr>
          <p:cNvPr id="7" name="Picture 6">
            <a:extLst>
              <a:ext uri="{FF2B5EF4-FFF2-40B4-BE49-F238E27FC236}">
                <a16:creationId xmlns:a16="http://schemas.microsoft.com/office/drawing/2014/main" id="{CF4A6A09-0E42-1612-32A8-8116665939FB}"/>
              </a:ext>
            </a:extLst>
          </p:cNvPr>
          <p:cNvPicPr>
            <a:picLocks noChangeAspect="1"/>
          </p:cNvPicPr>
          <p:nvPr/>
        </p:nvPicPr>
        <p:blipFill>
          <a:blip r:embed="rId3"/>
          <a:stretch>
            <a:fillRect/>
          </a:stretch>
        </p:blipFill>
        <p:spPr>
          <a:xfrm>
            <a:off x="7031735" y="3247166"/>
            <a:ext cx="4197097" cy="1619784"/>
          </a:xfrm>
          <a:prstGeom prst="rect">
            <a:avLst/>
          </a:prstGeom>
        </p:spPr>
      </p:pic>
      <p:sp>
        <p:nvSpPr>
          <p:cNvPr id="8" name="TextBox 7">
            <a:extLst>
              <a:ext uri="{FF2B5EF4-FFF2-40B4-BE49-F238E27FC236}">
                <a16:creationId xmlns:a16="http://schemas.microsoft.com/office/drawing/2014/main" id="{99171839-8E92-829C-E763-CBB09615B5C5}"/>
              </a:ext>
            </a:extLst>
          </p:cNvPr>
          <p:cNvSpPr txBox="1"/>
          <p:nvPr/>
        </p:nvSpPr>
        <p:spPr>
          <a:xfrm>
            <a:off x="6460235" y="1874079"/>
            <a:ext cx="5340096"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system accepted the input for 6 blood banks and successfully stored the corresponding 6×6 adjacency matrix representing their network connections.</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C32ACB5-2ED4-33C8-F4D9-6AE236282267}"/>
              </a:ext>
            </a:extLst>
          </p:cNvPr>
          <p:cNvPicPr>
            <a:picLocks noChangeAspect="1"/>
          </p:cNvPicPr>
          <p:nvPr/>
        </p:nvPicPr>
        <p:blipFill>
          <a:blip r:embed="rId4"/>
          <a:stretch>
            <a:fillRect/>
          </a:stretch>
        </p:blipFill>
        <p:spPr>
          <a:xfrm>
            <a:off x="7031735" y="5090264"/>
            <a:ext cx="3359667" cy="1626852"/>
          </a:xfrm>
          <a:prstGeom prst="rect">
            <a:avLst/>
          </a:prstGeom>
        </p:spPr>
      </p:pic>
      <p:sp>
        <p:nvSpPr>
          <p:cNvPr id="11" name="TextBox 10">
            <a:extLst>
              <a:ext uri="{FF2B5EF4-FFF2-40B4-BE49-F238E27FC236}">
                <a16:creationId xmlns:a16="http://schemas.microsoft.com/office/drawing/2014/main" id="{2160C170-846D-CE1B-F971-B8D0A33BF6BB}"/>
              </a:ext>
            </a:extLst>
          </p:cNvPr>
          <p:cNvSpPr txBox="1"/>
          <p:nvPr/>
        </p:nvSpPr>
        <p:spPr>
          <a:xfrm>
            <a:off x="1197864" y="5442025"/>
            <a:ext cx="5340096"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system received 9 blood banks as input and successfully stored the corresponding 9×9 adjacency matrix representing all their connection weights.</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CB055FD-C5F8-BC9B-DAD7-CFC89216436F}"/>
              </a:ext>
            </a:extLst>
          </p:cNvPr>
          <p:cNvSpPr txBox="1"/>
          <p:nvPr/>
        </p:nvSpPr>
        <p:spPr>
          <a:xfrm>
            <a:off x="704088" y="1183212"/>
            <a:ext cx="381304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SAMPLE INPUT:</a:t>
            </a:r>
            <a:endParaRPr lang="en-IN" dirty="0"/>
          </a:p>
        </p:txBody>
      </p:sp>
    </p:spTree>
    <p:extLst>
      <p:ext uri="{BB962C8B-B14F-4D97-AF65-F5344CB8AC3E}">
        <p14:creationId xmlns:p14="http://schemas.microsoft.com/office/powerpoint/2010/main" val="3997022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E6B91-AD96-91B9-02FB-31070D8B98BC}"/>
              </a:ext>
            </a:extLst>
          </p:cNvPr>
          <p:cNvSpPr txBox="1"/>
          <p:nvPr/>
        </p:nvSpPr>
        <p:spPr>
          <a:xfrm>
            <a:off x="448056" y="429768"/>
            <a:ext cx="369417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SAMPLE OUTPUT</a:t>
            </a:r>
            <a:endParaRPr lang="en-IN" dirty="0"/>
          </a:p>
        </p:txBody>
      </p:sp>
      <p:pic>
        <p:nvPicPr>
          <p:cNvPr id="4" name="Picture 3">
            <a:extLst>
              <a:ext uri="{FF2B5EF4-FFF2-40B4-BE49-F238E27FC236}">
                <a16:creationId xmlns:a16="http://schemas.microsoft.com/office/drawing/2014/main" id="{3F37B17A-F8FF-899A-5687-D9CF1777E877}"/>
              </a:ext>
            </a:extLst>
          </p:cNvPr>
          <p:cNvPicPr>
            <a:picLocks noChangeAspect="1"/>
          </p:cNvPicPr>
          <p:nvPr/>
        </p:nvPicPr>
        <p:blipFill>
          <a:blip r:embed="rId2"/>
          <a:stretch>
            <a:fillRect/>
          </a:stretch>
        </p:blipFill>
        <p:spPr>
          <a:xfrm>
            <a:off x="2822749" y="1114850"/>
            <a:ext cx="5742131" cy="1284501"/>
          </a:xfrm>
          <a:prstGeom prst="rect">
            <a:avLst/>
          </a:prstGeom>
        </p:spPr>
      </p:pic>
      <p:pic>
        <p:nvPicPr>
          <p:cNvPr id="6" name="Picture 5">
            <a:extLst>
              <a:ext uri="{FF2B5EF4-FFF2-40B4-BE49-F238E27FC236}">
                <a16:creationId xmlns:a16="http://schemas.microsoft.com/office/drawing/2014/main" id="{ED5D9C96-88F1-02D7-81C0-997C1A342EFA}"/>
              </a:ext>
            </a:extLst>
          </p:cNvPr>
          <p:cNvPicPr>
            <a:picLocks noChangeAspect="1"/>
          </p:cNvPicPr>
          <p:nvPr/>
        </p:nvPicPr>
        <p:blipFill>
          <a:blip r:embed="rId3"/>
          <a:stretch>
            <a:fillRect/>
          </a:stretch>
        </p:blipFill>
        <p:spPr>
          <a:xfrm>
            <a:off x="2822749" y="2940053"/>
            <a:ext cx="5742131" cy="1395498"/>
          </a:xfrm>
          <a:prstGeom prst="rect">
            <a:avLst/>
          </a:prstGeom>
        </p:spPr>
      </p:pic>
      <p:pic>
        <p:nvPicPr>
          <p:cNvPr id="8" name="Picture 7">
            <a:extLst>
              <a:ext uri="{FF2B5EF4-FFF2-40B4-BE49-F238E27FC236}">
                <a16:creationId xmlns:a16="http://schemas.microsoft.com/office/drawing/2014/main" id="{8B35780C-AF21-F8B6-D1BF-79EB0E0AADAC}"/>
              </a:ext>
            </a:extLst>
          </p:cNvPr>
          <p:cNvPicPr>
            <a:picLocks noChangeAspect="1"/>
          </p:cNvPicPr>
          <p:nvPr/>
        </p:nvPicPr>
        <p:blipFill>
          <a:blip r:embed="rId4"/>
          <a:stretch>
            <a:fillRect/>
          </a:stretch>
        </p:blipFill>
        <p:spPr>
          <a:xfrm>
            <a:off x="2822748" y="4876253"/>
            <a:ext cx="5742131" cy="1443464"/>
          </a:xfrm>
          <a:prstGeom prst="rect">
            <a:avLst/>
          </a:prstGeom>
        </p:spPr>
      </p:pic>
    </p:spTree>
    <p:extLst>
      <p:ext uri="{BB962C8B-B14F-4D97-AF65-F5344CB8AC3E}">
        <p14:creationId xmlns:p14="http://schemas.microsoft.com/office/powerpoint/2010/main" val="1881121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DEE3FB-D305-FCD6-BF88-A3CE7FE740D0}"/>
              </a:ext>
            </a:extLst>
          </p:cNvPr>
          <p:cNvSpPr txBox="1"/>
          <p:nvPr/>
        </p:nvSpPr>
        <p:spPr>
          <a:xfrm>
            <a:off x="448056" y="310896"/>
            <a:ext cx="3026664" cy="461665"/>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AA19636F-2A06-955D-2D66-BD6584E07CBD}"/>
              </a:ext>
            </a:extLst>
          </p:cNvPr>
          <p:cNvSpPr txBox="1"/>
          <p:nvPr/>
        </p:nvSpPr>
        <p:spPr>
          <a:xfrm>
            <a:off x="448056" y="1005840"/>
            <a:ext cx="11155680" cy="2951064"/>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Blood Bank Connectivity System is designed to find the most cost-efficient routes between multiple blood banks using Minimum Spanning Tree algorithms. In testing, both Prim’s and Kruskal’s algorithms generated optimal networks, but their performance differed based on the type of graph: Prim’s algorithm handled dense networks more effectively, while Kruskal’s performed better on sparse ones. To ensure the best outcome, the system automatically compares the total MST cost and execution time of both methods and recommends the most efficient option. By doing this, the system helps create a faster, more reliable, and cost-optimized transportation network—something essential for timely blood delivery and emergency medical services.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5036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1022</Words>
  <Application>Microsoft Office PowerPoint</Application>
  <PresentationFormat>Widescreen</PresentationFormat>
  <Paragraphs>94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SRINIVASAN</dc:creator>
  <cp:lastModifiedBy>HARIGANESH V</cp:lastModifiedBy>
  <cp:revision>2</cp:revision>
  <dcterms:created xsi:type="dcterms:W3CDTF">2025-11-23T05:52:22Z</dcterms:created>
  <dcterms:modified xsi:type="dcterms:W3CDTF">2025-11-24T08:47:42Z</dcterms:modified>
</cp:coreProperties>
</file>