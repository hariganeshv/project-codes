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1"/>
  </p:notesMasterIdLst>
  <p:sldIdLst>
    <p:sldId id="256" r:id="rId2"/>
    <p:sldId id="258" r:id="rId3"/>
    <p:sldId id="259" r:id="rId4"/>
    <p:sldId id="257"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884474-1D41-469E-9AB4-D8142A147C0B}" v="7" dt="2025-04-20T15:35:05.3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55" d="100"/>
          <a:sy n="55" d="100"/>
        </p:scale>
        <p:origin x="1096"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4F5656-5D10-4A09-8E6A-9DE1FCEF249C}" type="datetimeFigureOut">
              <a:rPr lang="en-IN" smtClean="0"/>
              <a:t>20-04-2025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FB0B98-4989-461B-9A24-A77FC5706BDA}" type="slidenum">
              <a:rPr lang="en-IN" smtClean="0"/>
              <a:t>‹#›</a:t>
            </a:fld>
            <a:endParaRPr lang="en-IN"/>
          </a:p>
        </p:txBody>
      </p:sp>
    </p:spTree>
    <p:extLst>
      <p:ext uri="{BB962C8B-B14F-4D97-AF65-F5344CB8AC3E}">
        <p14:creationId xmlns:p14="http://schemas.microsoft.com/office/powerpoint/2010/main" val="3731597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9F000-160D-BFD7-1033-DE664231AD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C8194A7-5DC9-6A08-7760-E24DF1C0A4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E5B37A0-5230-AC84-81B1-FE9E1CC919D0}"/>
              </a:ext>
            </a:extLst>
          </p:cNvPr>
          <p:cNvSpPr>
            <a:spLocks noGrp="1"/>
          </p:cNvSpPr>
          <p:nvPr>
            <p:ph type="dt" sz="half" idx="10"/>
          </p:nvPr>
        </p:nvSpPr>
        <p:spPr/>
        <p:txBody>
          <a:bodyPr/>
          <a:lstStyle/>
          <a:p>
            <a:fld id="{545DA795-1D2F-40D9-9C82-049FC69BD704}" type="datetime1">
              <a:rPr lang="en-IN" smtClean="0"/>
              <a:t>20-04-2025</a:t>
            </a:fld>
            <a:endParaRPr lang="en-IN"/>
          </a:p>
        </p:txBody>
      </p:sp>
      <p:sp>
        <p:nvSpPr>
          <p:cNvPr id="5" name="Footer Placeholder 4">
            <a:extLst>
              <a:ext uri="{FF2B5EF4-FFF2-40B4-BE49-F238E27FC236}">
                <a16:creationId xmlns:a16="http://schemas.microsoft.com/office/drawing/2014/main" id="{571B35B5-8E6C-5228-FBCF-6F495650A9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97AB1B-ACDA-4733-7186-7954112F78EB}"/>
              </a:ext>
            </a:extLst>
          </p:cNvPr>
          <p:cNvSpPr>
            <a:spLocks noGrp="1"/>
          </p:cNvSpPr>
          <p:nvPr>
            <p:ph type="sldNum" sz="quarter" idx="12"/>
          </p:nvPr>
        </p:nvSpPr>
        <p:spPr/>
        <p:txBody>
          <a:bodyPr/>
          <a:lstStyle/>
          <a:p>
            <a:fld id="{25F51578-6835-4416-9DA3-8DC2171AF31D}" type="slidenum">
              <a:rPr lang="en-IN" smtClean="0"/>
              <a:t>‹#›</a:t>
            </a:fld>
            <a:endParaRPr lang="en-IN"/>
          </a:p>
        </p:txBody>
      </p:sp>
    </p:spTree>
    <p:extLst>
      <p:ext uri="{BB962C8B-B14F-4D97-AF65-F5344CB8AC3E}">
        <p14:creationId xmlns:p14="http://schemas.microsoft.com/office/powerpoint/2010/main" val="2043936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89AC5-90ED-15A8-1638-6A1C42BB3BC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60685A2-F9C4-300E-9BFD-935E5DA7332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6897BA-3A98-B223-380E-78C997EA2E60}"/>
              </a:ext>
            </a:extLst>
          </p:cNvPr>
          <p:cNvSpPr>
            <a:spLocks noGrp="1"/>
          </p:cNvSpPr>
          <p:nvPr>
            <p:ph type="dt" sz="half" idx="10"/>
          </p:nvPr>
        </p:nvSpPr>
        <p:spPr/>
        <p:txBody>
          <a:bodyPr/>
          <a:lstStyle/>
          <a:p>
            <a:fld id="{D39F1C4D-F4DC-4563-87C5-F86085FB71C2}" type="datetime1">
              <a:rPr lang="en-IN" smtClean="0"/>
              <a:t>20-04-2025</a:t>
            </a:fld>
            <a:endParaRPr lang="en-IN"/>
          </a:p>
        </p:txBody>
      </p:sp>
      <p:sp>
        <p:nvSpPr>
          <p:cNvPr id="5" name="Footer Placeholder 4">
            <a:extLst>
              <a:ext uri="{FF2B5EF4-FFF2-40B4-BE49-F238E27FC236}">
                <a16:creationId xmlns:a16="http://schemas.microsoft.com/office/drawing/2014/main" id="{7D8A37A3-91ED-19DF-FC85-ABD181488D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8D92B7-449B-BA0E-D787-0C8144D756C1}"/>
              </a:ext>
            </a:extLst>
          </p:cNvPr>
          <p:cNvSpPr>
            <a:spLocks noGrp="1"/>
          </p:cNvSpPr>
          <p:nvPr>
            <p:ph type="sldNum" sz="quarter" idx="12"/>
          </p:nvPr>
        </p:nvSpPr>
        <p:spPr/>
        <p:txBody>
          <a:bodyPr/>
          <a:lstStyle/>
          <a:p>
            <a:fld id="{25F51578-6835-4416-9DA3-8DC2171AF31D}" type="slidenum">
              <a:rPr lang="en-IN" smtClean="0"/>
              <a:t>‹#›</a:t>
            </a:fld>
            <a:endParaRPr lang="en-IN"/>
          </a:p>
        </p:txBody>
      </p:sp>
    </p:spTree>
    <p:extLst>
      <p:ext uri="{BB962C8B-B14F-4D97-AF65-F5344CB8AC3E}">
        <p14:creationId xmlns:p14="http://schemas.microsoft.com/office/powerpoint/2010/main" val="2375109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663A1-30B2-22CA-DDB2-308CB36056A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37DD029-690C-6F60-560E-A8D3C9413E7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B106B9-7CD0-4D16-5BDF-CB022D9935AF}"/>
              </a:ext>
            </a:extLst>
          </p:cNvPr>
          <p:cNvSpPr>
            <a:spLocks noGrp="1"/>
          </p:cNvSpPr>
          <p:nvPr>
            <p:ph type="dt" sz="half" idx="10"/>
          </p:nvPr>
        </p:nvSpPr>
        <p:spPr/>
        <p:txBody>
          <a:bodyPr/>
          <a:lstStyle/>
          <a:p>
            <a:fld id="{730A06DC-34EA-4819-942C-21076A743BBC}" type="datetime1">
              <a:rPr lang="en-IN" smtClean="0"/>
              <a:t>20-04-2025</a:t>
            </a:fld>
            <a:endParaRPr lang="en-IN"/>
          </a:p>
        </p:txBody>
      </p:sp>
      <p:sp>
        <p:nvSpPr>
          <p:cNvPr id="5" name="Footer Placeholder 4">
            <a:extLst>
              <a:ext uri="{FF2B5EF4-FFF2-40B4-BE49-F238E27FC236}">
                <a16:creationId xmlns:a16="http://schemas.microsoft.com/office/drawing/2014/main" id="{EACB67D2-4E8F-77D9-DEAF-5F16E6CA93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0CA787E-B6F0-E835-396F-BF98492846E0}"/>
              </a:ext>
            </a:extLst>
          </p:cNvPr>
          <p:cNvSpPr>
            <a:spLocks noGrp="1"/>
          </p:cNvSpPr>
          <p:nvPr>
            <p:ph type="sldNum" sz="quarter" idx="12"/>
          </p:nvPr>
        </p:nvSpPr>
        <p:spPr/>
        <p:txBody>
          <a:bodyPr/>
          <a:lstStyle/>
          <a:p>
            <a:fld id="{25F51578-6835-4416-9DA3-8DC2171AF31D}" type="slidenum">
              <a:rPr lang="en-IN" smtClean="0"/>
              <a:t>‹#›</a:t>
            </a:fld>
            <a:endParaRPr lang="en-IN"/>
          </a:p>
        </p:txBody>
      </p:sp>
    </p:spTree>
    <p:extLst>
      <p:ext uri="{BB962C8B-B14F-4D97-AF65-F5344CB8AC3E}">
        <p14:creationId xmlns:p14="http://schemas.microsoft.com/office/powerpoint/2010/main" val="857243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369B1-09C2-CDB6-57DC-3A9C59B177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1F2858-CD80-1731-5092-E9E30D7D6E2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928C0DD-026A-7178-6493-9B6DDDB895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6149BA3-3C03-BE01-28D8-7EBC42B4635C}"/>
              </a:ext>
            </a:extLst>
          </p:cNvPr>
          <p:cNvSpPr>
            <a:spLocks noGrp="1"/>
          </p:cNvSpPr>
          <p:nvPr>
            <p:ph type="dt" sz="half" idx="10"/>
          </p:nvPr>
        </p:nvSpPr>
        <p:spPr/>
        <p:txBody>
          <a:bodyPr/>
          <a:lstStyle/>
          <a:p>
            <a:fld id="{D24C7B25-0018-4E59-8D1E-E05B89AAC12D}" type="datetime1">
              <a:rPr lang="en-IN" smtClean="0"/>
              <a:t>20-04-2025</a:t>
            </a:fld>
            <a:endParaRPr lang="en-IN"/>
          </a:p>
        </p:txBody>
      </p:sp>
      <p:sp>
        <p:nvSpPr>
          <p:cNvPr id="6" name="Footer Placeholder 5">
            <a:extLst>
              <a:ext uri="{FF2B5EF4-FFF2-40B4-BE49-F238E27FC236}">
                <a16:creationId xmlns:a16="http://schemas.microsoft.com/office/drawing/2014/main" id="{49DD2DA4-F867-46F5-95F4-D4BE023B8A0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736ACE3-E8F6-BFD8-59ED-89F7B4D77800}"/>
              </a:ext>
            </a:extLst>
          </p:cNvPr>
          <p:cNvSpPr>
            <a:spLocks noGrp="1"/>
          </p:cNvSpPr>
          <p:nvPr>
            <p:ph type="sldNum" sz="quarter" idx="12"/>
          </p:nvPr>
        </p:nvSpPr>
        <p:spPr/>
        <p:txBody>
          <a:bodyPr/>
          <a:lstStyle/>
          <a:p>
            <a:fld id="{25F51578-6835-4416-9DA3-8DC2171AF31D}" type="slidenum">
              <a:rPr lang="en-IN" smtClean="0"/>
              <a:t>‹#›</a:t>
            </a:fld>
            <a:endParaRPr lang="en-IN"/>
          </a:p>
        </p:txBody>
      </p:sp>
    </p:spTree>
    <p:extLst>
      <p:ext uri="{BB962C8B-B14F-4D97-AF65-F5344CB8AC3E}">
        <p14:creationId xmlns:p14="http://schemas.microsoft.com/office/powerpoint/2010/main" val="30046415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49590-3644-BAD3-D0DC-C1EF7252E47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ECA63D5-9D81-54EB-C965-E5A914C27E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4F83433-88E3-715F-3F98-B70C6C8AEA5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23A2718-BBE0-AF89-5885-CC33B01EF1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E84EC78-6591-4375-BD95-DE67DD7A843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267C27D-02B3-B19D-B721-9733C0305D03}"/>
              </a:ext>
            </a:extLst>
          </p:cNvPr>
          <p:cNvSpPr>
            <a:spLocks noGrp="1"/>
          </p:cNvSpPr>
          <p:nvPr>
            <p:ph type="dt" sz="half" idx="10"/>
          </p:nvPr>
        </p:nvSpPr>
        <p:spPr/>
        <p:txBody>
          <a:bodyPr/>
          <a:lstStyle/>
          <a:p>
            <a:fld id="{9176F6F3-08A5-4978-B847-26F0A1D90C7F}" type="datetime1">
              <a:rPr lang="en-IN" smtClean="0"/>
              <a:t>20-04-2025</a:t>
            </a:fld>
            <a:endParaRPr lang="en-IN"/>
          </a:p>
        </p:txBody>
      </p:sp>
      <p:sp>
        <p:nvSpPr>
          <p:cNvPr id="8" name="Footer Placeholder 7">
            <a:extLst>
              <a:ext uri="{FF2B5EF4-FFF2-40B4-BE49-F238E27FC236}">
                <a16:creationId xmlns:a16="http://schemas.microsoft.com/office/drawing/2014/main" id="{CED63CCE-D5F9-7927-CA30-9A07684FE9D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1EA4EAB-A165-E06B-D98D-C7290B1FD389}"/>
              </a:ext>
            </a:extLst>
          </p:cNvPr>
          <p:cNvSpPr>
            <a:spLocks noGrp="1"/>
          </p:cNvSpPr>
          <p:nvPr>
            <p:ph type="sldNum" sz="quarter" idx="12"/>
          </p:nvPr>
        </p:nvSpPr>
        <p:spPr/>
        <p:txBody>
          <a:bodyPr/>
          <a:lstStyle/>
          <a:p>
            <a:fld id="{25F51578-6835-4416-9DA3-8DC2171AF31D}" type="slidenum">
              <a:rPr lang="en-IN" smtClean="0"/>
              <a:t>‹#›</a:t>
            </a:fld>
            <a:endParaRPr lang="en-IN"/>
          </a:p>
        </p:txBody>
      </p:sp>
    </p:spTree>
    <p:extLst>
      <p:ext uri="{BB962C8B-B14F-4D97-AF65-F5344CB8AC3E}">
        <p14:creationId xmlns:p14="http://schemas.microsoft.com/office/powerpoint/2010/main" val="1622455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BB33B-64C4-BE20-0300-7692045268F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39E7302-1DDD-3D6C-87D1-71B186CC0DB1}"/>
              </a:ext>
            </a:extLst>
          </p:cNvPr>
          <p:cNvSpPr>
            <a:spLocks noGrp="1"/>
          </p:cNvSpPr>
          <p:nvPr>
            <p:ph type="dt" sz="half" idx="10"/>
          </p:nvPr>
        </p:nvSpPr>
        <p:spPr/>
        <p:txBody>
          <a:bodyPr/>
          <a:lstStyle/>
          <a:p>
            <a:fld id="{763D243B-FAEE-4B39-8958-9C73E126E265}" type="datetime1">
              <a:rPr lang="en-IN" smtClean="0"/>
              <a:t>20-04-2025</a:t>
            </a:fld>
            <a:endParaRPr lang="en-IN"/>
          </a:p>
        </p:txBody>
      </p:sp>
      <p:sp>
        <p:nvSpPr>
          <p:cNvPr id="4" name="Footer Placeholder 3">
            <a:extLst>
              <a:ext uri="{FF2B5EF4-FFF2-40B4-BE49-F238E27FC236}">
                <a16:creationId xmlns:a16="http://schemas.microsoft.com/office/drawing/2014/main" id="{EBB42619-39A7-229D-6BD3-918265058BB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B722949-E2F7-B730-91BB-6A5081255EC8}"/>
              </a:ext>
            </a:extLst>
          </p:cNvPr>
          <p:cNvSpPr>
            <a:spLocks noGrp="1"/>
          </p:cNvSpPr>
          <p:nvPr>
            <p:ph type="sldNum" sz="quarter" idx="12"/>
          </p:nvPr>
        </p:nvSpPr>
        <p:spPr/>
        <p:txBody>
          <a:bodyPr/>
          <a:lstStyle/>
          <a:p>
            <a:fld id="{25F51578-6835-4416-9DA3-8DC2171AF31D}" type="slidenum">
              <a:rPr lang="en-IN" smtClean="0"/>
              <a:t>‹#›</a:t>
            </a:fld>
            <a:endParaRPr lang="en-IN"/>
          </a:p>
        </p:txBody>
      </p:sp>
    </p:spTree>
    <p:extLst>
      <p:ext uri="{BB962C8B-B14F-4D97-AF65-F5344CB8AC3E}">
        <p14:creationId xmlns:p14="http://schemas.microsoft.com/office/powerpoint/2010/main" val="3169440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9BDFB9-ACAD-A1BC-F9D5-9CD93F089A97}"/>
              </a:ext>
            </a:extLst>
          </p:cNvPr>
          <p:cNvSpPr>
            <a:spLocks noGrp="1"/>
          </p:cNvSpPr>
          <p:nvPr>
            <p:ph type="dt" sz="half" idx="10"/>
          </p:nvPr>
        </p:nvSpPr>
        <p:spPr/>
        <p:txBody>
          <a:bodyPr/>
          <a:lstStyle/>
          <a:p>
            <a:fld id="{0E2FD3A7-07F3-4414-980A-72BB7578CA2C}" type="datetime1">
              <a:rPr lang="en-IN" smtClean="0"/>
              <a:t>20-04-2025</a:t>
            </a:fld>
            <a:endParaRPr lang="en-IN"/>
          </a:p>
        </p:txBody>
      </p:sp>
      <p:sp>
        <p:nvSpPr>
          <p:cNvPr id="3" name="Footer Placeholder 2">
            <a:extLst>
              <a:ext uri="{FF2B5EF4-FFF2-40B4-BE49-F238E27FC236}">
                <a16:creationId xmlns:a16="http://schemas.microsoft.com/office/drawing/2014/main" id="{906B4F81-99F7-2547-E58F-9D0B8F613A1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1C1F332-5A64-250D-6B45-063F8748684A}"/>
              </a:ext>
            </a:extLst>
          </p:cNvPr>
          <p:cNvSpPr>
            <a:spLocks noGrp="1"/>
          </p:cNvSpPr>
          <p:nvPr>
            <p:ph type="sldNum" sz="quarter" idx="12"/>
          </p:nvPr>
        </p:nvSpPr>
        <p:spPr/>
        <p:txBody>
          <a:bodyPr/>
          <a:lstStyle/>
          <a:p>
            <a:fld id="{25F51578-6835-4416-9DA3-8DC2171AF31D}" type="slidenum">
              <a:rPr lang="en-IN" smtClean="0"/>
              <a:t>‹#›</a:t>
            </a:fld>
            <a:endParaRPr lang="en-IN"/>
          </a:p>
        </p:txBody>
      </p:sp>
    </p:spTree>
    <p:extLst>
      <p:ext uri="{BB962C8B-B14F-4D97-AF65-F5344CB8AC3E}">
        <p14:creationId xmlns:p14="http://schemas.microsoft.com/office/powerpoint/2010/main" val="16444580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74854-26BE-FF18-B2C5-330495E0B3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0A2B612-CD98-AA22-5100-82716D7D02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D60A061-4F61-74F4-946B-42EA6FD16C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D3E1CD-61F6-4A88-F52B-C8E8C14FD3E4}"/>
              </a:ext>
            </a:extLst>
          </p:cNvPr>
          <p:cNvSpPr>
            <a:spLocks noGrp="1"/>
          </p:cNvSpPr>
          <p:nvPr>
            <p:ph type="dt" sz="half" idx="10"/>
          </p:nvPr>
        </p:nvSpPr>
        <p:spPr/>
        <p:txBody>
          <a:bodyPr/>
          <a:lstStyle/>
          <a:p>
            <a:fld id="{EC6E3A57-4474-4D4F-8437-285D4EA7AEF7}" type="datetime1">
              <a:rPr lang="en-IN" smtClean="0"/>
              <a:t>20-04-2025</a:t>
            </a:fld>
            <a:endParaRPr lang="en-IN"/>
          </a:p>
        </p:txBody>
      </p:sp>
      <p:sp>
        <p:nvSpPr>
          <p:cNvPr id="6" name="Footer Placeholder 5">
            <a:extLst>
              <a:ext uri="{FF2B5EF4-FFF2-40B4-BE49-F238E27FC236}">
                <a16:creationId xmlns:a16="http://schemas.microsoft.com/office/drawing/2014/main" id="{BEA99DBF-EEE5-06ED-221B-264356D68BF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8727AEB-4EF5-15AD-55DD-2E5D55864CDE}"/>
              </a:ext>
            </a:extLst>
          </p:cNvPr>
          <p:cNvSpPr>
            <a:spLocks noGrp="1"/>
          </p:cNvSpPr>
          <p:nvPr>
            <p:ph type="sldNum" sz="quarter" idx="12"/>
          </p:nvPr>
        </p:nvSpPr>
        <p:spPr/>
        <p:txBody>
          <a:bodyPr/>
          <a:lstStyle/>
          <a:p>
            <a:fld id="{25F51578-6835-4416-9DA3-8DC2171AF31D}" type="slidenum">
              <a:rPr lang="en-IN" smtClean="0"/>
              <a:t>‹#›</a:t>
            </a:fld>
            <a:endParaRPr lang="en-IN"/>
          </a:p>
        </p:txBody>
      </p:sp>
    </p:spTree>
    <p:extLst>
      <p:ext uri="{BB962C8B-B14F-4D97-AF65-F5344CB8AC3E}">
        <p14:creationId xmlns:p14="http://schemas.microsoft.com/office/powerpoint/2010/main" val="5048608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BFA54-AAC5-9C97-CEC6-5DCD7EC298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74F7849-6F7B-6303-9954-7A0F60173D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B25BAF-DC0D-B16A-22A8-5E2DA47ED4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FBC6E8-780D-70C6-2770-B6D0EC12ACAB}"/>
              </a:ext>
            </a:extLst>
          </p:cNvPr>
          <p:cNvSpPr>
            <a:spLocks noGrp="1"/>
          </p:cNvSpPr>
          <p:nvPr>
            <p:ph type="dt" sz="half" idx="10"/>
          </p:nvPr>
        </p:nvSpPr>
        <p:spPr/>
        <p:txBody>
          <a:bodyPr/>
          <a:lstStyle/>
          <a:p>
            <a:fld id="{1B298AB3-5284-46E9-B9D2-93260222EBF2}" type="datetime1">
              <a:rPr lang="en-IN" smtClean="0"/>
              <a:t>20-04-2025</a:t>
            </a:fld>
            <a:endParaRPr lang="en-IN"/>
          </a:p>
        </p:txBody>
      </p:sp>
      <p:sp>
        <p:nvSpPr>
          <p:cNvPr id="6" name="Footer Placeholder 5">
            <a:extLst>
              <a:ext uri="{FF2B5EF4-FFF2-40B4-BE49-F238E27FC236}">
                <a16:creationId xmlns:a16="http://schemas.microsoft.com/office/drawing/2014/main" id="{CCB36A02-29C5-FBBC-2A43-3B0920929D2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A9A4D89-0D83-38EA-BA08-37600146DD9C}"/>
              </a:ext>
            </a:extLst>
          </p:cNvPr>
          <p:cNvSpPr>
            <a:spLocks noGrp="1"/>
          </p:cNvSpPr>
          <p:nvPr>
            <p:ph type="sldNum" sz="quarter" idx="12"/>
          </p:nvPr>
        </p:nvSpPr>
        <p:spPr/>
        <p:txBody>
          <a:bodyPr/>
          <a:lstStyle/>
          <a:p>
            <a:fld id="{25F51578-6835-4416-9DA3-8DC2171AF31D}" type="slidenum">
              <a:rPr lang="en-IN" smtClean="0"/>
              <a:t>‹#›</a:t>
            </a:fld>
            <a:endParaRPr lang="en-IN"/>
          </a:p>
        </p:txBody>
      </p:sp>
    </p:spTree>
    <p:extLst>
      <p:ext uri="{BB962C8B-B14F-4D97-AF65-F5344CB8AC3E}">
        <p14:creationId xmlns:p14="http://schemas.microsoft.com/office/powerpoint/2010/main" val="18477377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DA02B-F435-15CA-7DA1-8CF35D700E7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10FBD4F-11C5-02A5-2D88-6F155F9083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4476FA-EA3E-2946-0512-4E5569527E03}"/>
              </a:ext>
            </a:extLst>
          </p:cNvPr>
          <p:cNvSpPr>
            <a:spLocks noGrp="1"/>
          </p:cNvSpPr>
          <p:nvPr>
            <p:ph type="dt" sz="half" idx="10"/>
          </p:nvPr>
        </p:nvSpPr>
        <p:spPr/>
        <p:txBody>
          <a:bodyPr/>
          <a:lstStyle/>
          <a:p>
            <a:fld id="{56D345F0-3218-4410-A674-CB20DC70E3A7}" type="datetime1">
              <a:rPr lang="en-IN" smtClean="0"/>
              <a:t>20-04-2025</a:t>
            </a:fld>
            <a:endParaRPr lang="en-IN"/>
          </a:p>
        </p:txBody>
      </p:sp>
      <p:sp>
        <p:nvSpPr>
          <p:cNvPr id="5" name="Footer Placeholder 4">
            <a:extLst>
              <a:ext uri="{FF2B5EF4-FFF2-40B4-BE49-F238E27FC236}">
                <a16:creationId xmlns:a16="http://schemas.microsoft.com/office/drawing/2014/main" id="{014B4F23-BA12-26A0-C7A6-399155137A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02A08F-4472-3140-EEA9-17192C95006D}"/>
              </a:ext>
            </a:extLst>
          </p:cNvPr>
          <p:cNvSpPr>
            <a:spLocks noGrp="1"/>
          </p:cNvSpPr>
          <p:nvPr>
            <p:ph type="sldNum" sz="quarter" idx="12"/>
          </p:nvPr>
        </p:nvSpPr>
        <p:spPr/>
        <p:txBody>
          <a:bodyPr/>
          <a:lstStyle/>
          <a:p>
            <a:fld id="{25F51578-6835-4416-9DA3-8DC2171AF31D}" type="slidenum">
              <a:rPr lang="en-IN" smtClean="0"/>
              <a:t>‹#›</a:t>
            </a:fld>
            <a:endParaRPr lang="en-IN"/>
          </a:p>
        </p:txBody>
      </p:sp>
    </p:spTree>
    <p:extLst>
      <p:ext uri="{BB962C8B-B14F-4D97-AF65-F5344CB8AC3E}">
        <p14:creationId xmlns:p14="http://schemas.microsoft.com/office/powerpoint/2010/main" val="32035039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9C2AE2-2F4E-569C-6285-B34F5D0358B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6DCBCE9-60CD-0D06-6605-1ED6A1F6601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D8C370-D27E-87FF-362B-F2EDEF793E08}"/>
              </a:ext>
            </a:extLst>
          </p:cNvPr>
          <p:cNvSpPr>
            <a:spLocks noGrp="1"/>
          </p:cNvSpPr>
          <p:nvPr>
            <p:ph type="dt" sz="half" idx="10"/>
          </p:nvPr>
        </p:nvSpPr>
        <p:spPr/>
        <p:txBody>
          <a:bodyPr/>
          <a:lstStyle/>
          <a:p>
            <a:fld id="{679CD716-8B56-4F28-AD14-0E7CE1709820}" type="datetime1">
              <a:rPr lang="en-IN" smtClean="0"/>
              <a:t>20-04-2025</a:t>
            </a:fld>
            <a:endParaRPr lang="en-IN"/>
          </a:p>
        </p:txBody>
      </p:sp>
      <p:sp>
        <p:nvSpPr>
          <p:cNvPr id="5" name="Footer Placeholder 4">
            <a:extLst>
              <a:ext uri="{FF2B5EF4-FFF2-40B4-BE49-F238E27FC236}">
                <a16:creationId xmlns:a16="http://schemas.microsoft.com/office/drawing/2014/main" id="{7CFD2884-7C2E-3ED8-4393-4271636F18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93F6FB-24C2-2D6B-E0AD-2B98E403B299}"/>
              </a:ext>
            </a:extLst>
          </p:cNvPr>
          <p:cNvSpPr>
            <a:spLocks noGrp="1"/>
          </p:cNvSpPr>
          <p:nvPr>
            <p:ph type="sldNum" sz="quarter" idx="12"/>
          </p:nvPr>
        </p:nvSpPr>
        <p:spPr/>
        <p:txBody>
          <a:bodyPr/>
          <a:lstStyle/>
          <a:p>
            <a:fld id="{25F51578-6835-4416-9DA3-8DC2171AF31D}" type="slidenum">
              <a:rPr lang="en-IN" smtClean="0"/>
              <a:t>‹#›</a:t>
            </a:fld>
            <a:endParaRPr lang="en-IN"/>
          </a:p>
        </p:txBody>
      </p:sp>
    </p:spTree>
    <p:extLst>
      <p:ext uri="{BB962C8B-B14F-4D97-AF65-F5344CB8AC3E}">
        <p14:creationId xmlns:p14="http://schemas.microsoft.com/office/powerpoint/2010/main" val="28916946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DC67293-0C61-CF38-B74A-C4134B800A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293ADC6-936A-D91E-0F92-65160DA5DB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B26A95-D26A-5274-75D7-418AAAAB26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95284B-69D5-4C74-AFB7-4AE164DC91D6}" type="datetime1">
              <a:rPr lang="en-IN" smtClean="0"/>
              <a:t>20-04-2025</a:t>
            </a:fld>
            <a:endParaRPr lang="en-IN"/>
          </a:p>
        </p:txBody>
      </p:sp>
      <p:sp>
        <p:nvSpPr>
          <p:cNvPr id="5" name="Footer Placeholder 4">
            <a:extLst>
              <a:ext uri="{FF2B5EF4-FFF2-40B4-BE49-F238E27FC236}">
                <a16:creationId xmlns:a16="http://schemas.microsoft.com/office/drawing/2014/main" id="{02D029FA-3AE5-8399-85D2-FA4C2908E6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92148F1-31E8-B788-AD4C-CE1D4B7268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F51578-6835-4416-9DA3-8DC2171AF31D}" type="slidenum">
              <a:rPr lang="en-IN" smtClean="0"/>
              <a:t>‹#›</a:t>
            </a:fld>
            <a:endParaRPr lang="en-IN"/>
          </a:p>
        </p:txBody>
      </p:sp>
    </p:spTree>
    <p:extLst>
      <p:ext uri="{BB962C8B-B14F-4D97-AF65-F5344CB8AC3E}">
        <p14:creationId xmlns:p14="http://schemas.microsoft.com/office/powerpoint/2010/main" val="217876805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BBF64-715B-D69D-2601-69077F5D1CED}"/>
              </a:ext>
            </a:extLst>
          </p:cNvPr>
          <p:cNvSpPr>
            <a:spLocks noGrp="1"/>
          </p:cNvSpPr>
          <p:nvPr>
            <p:ph type="title"/>
          </p:nvPr>
        </p:nvSpPr>
        <p:spPr>
          <a:xfrm>
            <a:off x="1191126" y="1706395"/>
            <a:ext cx="10515600" cy="1325563"/>
          </a:xfrm>
        </p:spPr>
        <p:txBody>
          <a:bodyPr>
            <a:normAutofit/>
          </a:bodyPr>
          <a:lstStyle/>
          <a:p>
            <a:pPr algn="ctr"/>
            <a:r>
              <a:rPr lang="en-GB" sz="2800" b="1" i="0" u="none" strike="noStrike" dirty="0">
                <a:solidFill>
                  <a:srgbClr val="000000"/>
                </a:solidFill>
                <a:effectLst/>
                <a:latin typeface="Times New Roman" panose="02020603050405020304" pitchFamily="18" charset="0"/>
                <a:cs typeface="Times New Roman" panose="02020603050405020304" pitchFamily="18" charset="0"/>
              </a:rPr>
              <a:t>E-COMMERCE SHOPPING CART SYSTEM IN C</a:t>
            </a:r>
            <a:br>
              <a:rPr lang="en-IN" sz="2800" kern="100" dirty="0">
                <a:effectLst/>
                <a:latin typeface="Times New Roman" panose="02020603050405020304" pitchFamily="18" charset="0"/>
                <a:ea typeface="Calibri" panose="020F0502020204030204" pitchFamily="34" charset="0"/>
                <a:cs typeface="Times New Roman" panose="02020603050405020304" pitchFamily="18" charset="0"/>
              </a:rPr>
            </a:br>
            <a:endParaRPr lang="en-IN" sz="2800" dirty="0">
              <a:latin typeface="Times New Roman" panose="020206030504050203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78175BEB-FFDD-3C84-BDF6-87331AEB8DB8}"/>
              </a:ext>
            </a:extLst>
          </p:cNvPr>
          <p:cNvSpPr>
            <a:spLocks noGrp="1"/>
          </p:cNvSpPr>
          <p:nvPr>
            <p:ph idx="1"/>
          </p:nvPr>
        </p:nvSpPr>
        <p:spPr>
          <a:xfrm>
            <a:off x="838200" y="2807368"/>
            <a:ext cx="10515600" cy="3595854"/>
          </a:xfrm>
        </p:spPr>
        <p:txBody>
          <a:bodyPr>
            <a:normAutofit/>
          </a:bodyPr>
          <a:lstStyle/>
          <a:p>
            <a:pPr marL="0" indent="0" algn="ctr">
              <a:buNone/>
            </a:pPr>
            <a:r>
              <a:rPr lang="en-IN" sz="1600" dirty="0">
                <a:latin typeface="Times New Roman" panose="02020603050405020304" pitchFamily="18" charset="0"/>
                <a:cs typeface="Times New Roman" panose="02020603050405020304" pitchFamily="18" charset="0"/>
              </a:rPr>
              <a:t>PROJECT REPORT</a:t>
            </a:r>
          </a:p>
          <a:p>
            <a:pPr marL="0" indent="0" algn="ctr">
              <a:buNone/>
            </a:pPr>
            <a:r>
              <a:rPr lang="en-IN" sz="1600" dirty="0">
                <a:latin typeface="Times New Roman" panose="02020603050405020304" pitchFamily="18" charset="0"/>
                <a:cs typeface="Times New Roman" panose="02020603050405020304" pitchFamily="18" charset="0"/>
              </a:rPr>
              <a:t>Submitted by </a:t>
            </a:r>
          </a:p>
          <a:p>
            <a:pPr marL="0" indent="0" algn="ctr">
              <a:buNone/>
            </a:pPr>
            <a:r>
              <a:rPr lang="en-IN" sz="1600" dirty="0">
                <a:latin typeface="Times New Roman" panose="02020603050405020304" pitchFamily="18" charset="0"/>
                <a:cs typeface="Times New Roman" panose="02020603050405020304" pitchFamily="18" charset="0"/>
              </a:rPr>
              <a:t>HARIGANESH.V</a:t>
            </a:r>
          </a:p>
          <a:p>
            <a:pPr marL="0" indent="0" algn="ctr">
              <a:buNone/>
            </a:pPr>
            <a:r>
              <a:rPr lang="en-IN" sz="1600" dirty="0">
                <a:latin typeface="Times New Roman" panose="02020603050405020304" pitchFamily="18" charset="0"/>
                <a:cs typeface="Times New Roman" panose="02020603050405020304" pitchFamily="18" charset="0"/>
              </a:rPr>
              <a:t>E0524007</a:t>
            </a:r>
          </a:p>
          <a:p>
            <a:pPr marL="0" indent="0" algn="ctr">
              <a:buNone/>
            </a:pPr>
            <a:r>
              <a:rPr lang="en-IN" sz="1600" dirty="0">
                <a:latin typeface="Times New Roman" panose="02020603050405020304" pitchFamily="18" charset="0"/>
                <a:cs typeface="Times New Roman" panose="02020603050405020304" pitchFamily="18" charset="0"/>
              </a:rPr>
              <a:t>GANESHSRINIVASAN</a:t>
            </a:r>
          </a:p>
          <a:p>
            <a:pPr marL="0" indent="0" algn="ctr">
              <a:buNone/>
            </a:pPr>
            <a:r>
              <a:rPr lang="en-IN" sz="1600" dirty="0">
                <a:latin typeface="Times New Roman" panose="02020603050405020304" pitchFamily="18" charset="0"/>
                <a:cs typeface="Times New Roman" panose="02020603050405020304" pitchFamily="18" charset="0"/>
              </a:rPr>
              <a:t>E0524016</a:t>
            </a:r>
          </a:p>
          <a:p>
            <a:pPr marL="0" indent="0" algn="ctr">
              <a:buNone/>
            </a:pPr>
            <a:endParaRPr lang="en-IN" sz="1600" dirty="0"/>
          </a:p>
        </p:txBody>
      </p:sp>
      <p:sp>
        <p:nvSpPr>
          <p:cNvPr id="3" name="Slide Number Placeholder 2">
            <a:extLst>
              <a:ext uri="{FF2B5EF4-FFF2-40B4-BE49-F238E27FC236}">
                <a16:creationId xmlns:a16="http://schemas.microsoft.com/office/drawing/2014/main" id="{9964467D-5294-FA3B-9DD8-D392377E589D}"/>
              </a:ext>
            </a:extLst>
          </p:cNvPr>
          <p:cNvSpPr>
            <a:spLocks noGrp="1"/>
          </p:cNvSpPr>
          <p:nvPr>
            <p:ph type="sldNum" sz="quarter" idx="12"/>
          </p:nvPr>
        </p:nvSpPr>
        <p:spPr/>
        <p:txBody>
          <a:bodyPr/>
          <a:lstStyle/>
          <a:p>
            <a:fld id="{25F51578-6835-4416-9DA3-8DC2171AF31D}" type="slidenum">
              <a:rPr lang="en-IN" smtClean="0"/>
              <a:t>1</a:t>
            </a:fld>
            <a:endParaRPr lang="en-IN"/>
          </a:p>
        </p:txBody>
      </p:sp>
      <p:pic>
        <p:nvPicPr>
          <p:cNvPr id="6" name="image2.png">
            <a:extLst>
              <a:ext uri="{FF2B5EF4-FFF2-40B4-BE49-F238E27FC236}">
                <a16:creationId xmlns:a16="http://schemas.microsoft.com/office/drawing/2014/main" id="{A2C88295-2724-1832-CAE9-C24BA03FF703}"/>
              </a:ext>
            </a:extLst>
          </p:cNvPr>
          <p:cNvPicPr/>
          <p:nvPr/>
        </p:nvPicPr>
        <p:blipFill>
          <a:blip r:embed="rId2"/>
          <a:srcRect/>
          <a:stretch>
            <a:fillRect/>
          </a:stretch>
        </p:blipFill>
        <p:spPr>
          <a:xfrm>
            <a:off x="3388769" y="230188"/>
            <a:ext cx="5414462" cy="1228307"/>
          </a:xfrm>
          <a:prstGeom prst="rect">
            <a:avLst/>
          </a:prstGeom>
          <a:ln/>
        </p:spPr>
      </p:pic>
    </p:spTree>
    <p:extLst>
      <p:ext uri="{BB962C8B-B14F-4D97-AF65-F5344CB8AC3E}">
        <p14:creationId xmlns:p14="http://schemas.microsoft.com/office/powerpoint/2010/main" val="27496437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99699-523F-6AB3-4EC6-FD79FCFB02BC}"/>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ACKNOWLEDGMENT </a:t>
            </a:r>
          </a:p>
        </p:txBody>
      </p:sp>
      <p:sp>
        <p:nvSpPr>
          <p:cNvPr id="3" name="Content Placeholder 2">
            <a:extLst>
              <a:ext uri="{FF2B5EF4-FFF2-40B4-BE49-F238E27FC236}">
                <a16:creationId xmlns:a16="http://schemas.microsoft.com/office/drawing/2014/main" id="{E53CDF93-DDB5-36B7-1B6B-C4DBCD456A55}"/>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We express our sincere gratitude to our guide, Dr. A. Sathya Mentor, for the invaluable guidance and encouragement throughout this project. We also thank our HOD and faculty members for their support and motivation. </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7F861ED-530B-7105-067A-A2DC378D6AC6}"/>
              </a:ext>
            </a:extLst>
          </p:cNvPr>
          <p:cNvSpPr>
            <a:spLocks noGrp="1"/>
          </p:cNvSpPr>
          <p:nvPr>
            <p:ph type="sldNum" sz="quarter" idx="12"/>
          </p:nvPr>
        </p:nvSpPr>
        <p:spPr/>
        <p:txBody>
          <a:bodyPr/>
          <a:lstStyle/>
          <a:p>
            <a:fld id="{25F51578-6835-4416-9DA3-8DC2171AF31D}" type="slidenum">
              <a:rPr lang="en-IN" smtClean="0"/>
              <a:t>2</a:t>
            </a:fld>
            <a:endParaRPr lang="en-IN"/>
          </a:p>
        </p:txBody>
      </p:sp>
    </p:spTree>
    <p:extLst>
      <p:ext uri="{BB962C8B-B14F-4D97-AF65-F5344CB8AC3E}">
        <p14:creationId xmlns:p14="http://schemas.microsoft.com/office/powerpoint/2010/main" val="38942398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1C8B5-3A62-D038-3595-527D59D06BBC}"/>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C6878E57-FA2D-6079-B954-47E33592534E}"/>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This project presents a C-based E-commerce Shopping Cart system that simulates key functionalities of an online shopping experience using fundamental data structures such as stacks. The system allows users to add, remove, and view items in a shopping cart while also managing a </a:t>
            </a:r>
            <a:r>
              <a:rPr lang="en-US" dirty="0" err="1">
                <a:latin typeface="Times New Roman" panose="02020603050405020304" pitchFamily="18" charset="0"/>
                <a:cs typeface="Times New Roman" panose="02020603050405020304" pitchFamily="18" charset="0"/>
              </a:rPr>
              <a:t>wishlist</a:t>
            </a:r>
            <a:r>
              <a:rPr lang="en-US" dirty="0">
                <a:latin typeface="Times New Roman" panose="02020603050405020304" pitchFamily="18" charset="0"/>
                <a:cs typeface="Times New Roman" panose="02020603050405020304" pitchFamily="18" charset="0"/>
              </a:rPr>
              <a:t> . The cart is implemented using a stack data structure, enabling LIFO (Last-In-First-Out) operations like push (add to cart) and pop (remove last item). Key features include: Cart and Wishlist Management: Users can add multiple items to the cart or </a:t>
            </a:r>
            <a:r>
              <a:rPr lang="en-US" dirty="0" err="1">
                <a:latin typeface="Times New Roman" panose="02020603050405020304" pitchFamily="18" charset="0"/>
                <a:cs typeface="Times New Roman" panose="02020603050405020304" pitchFamily="18" charset="0"/>
              </a:rPr>
              <a:t>wishlist</a:t>
            </a:r>
            <a:r>
              <a:rPr lang="en-US" dirty="0">
                <a:latin typeface="Times New Roman" panose="02020603050405020304" pitchFamily="18" charset="0"/>
                <a:cs typeface="Times New Roman" panose="02020603050405020304" pitchFamily="18" charset="0"/>
              </a:rPr>
              <a:t> , each having a name, price, and quantity . Search Functionality: Users can search for specific items in the cart by name.</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FB731DB-69C9-4EBF-5F33-F15C8ED33311}"/>
              </a:ext>
            </a:extLst>
          </p:cNvPr>
          <p:cNvSpPr>
            <a:spLocks noGrp="1"/>
          </p:cNvSpPr>
          <p:nvPr>
            <p:ph type="sldNum" sz="quarter" idx="12"/>
          </p:nvPr>
        </p:nvSpPr>
        <p:spPr/>
        <p:txBody>
          <a:bodyPr/>
          <a:lstStyle/>
          <a:p>
            <a:fld id="{25F51578-6835-4416-9DA3-8DC2171AF31D}" type="slidenum">
              <a:rPr lang="en-IN" smtClean="0"/>
              <a:t>3</a:t>
            </a:fld>
            <a:endParaRPr lang="en-IN"/>
          </a:p>
        </p:txBody>
      </p:sp>
    </p:spTree>
    <p:extLst>
      <p:ext uri="{BB962C8B-B14F-4D97-AF65-F5344CB8AC3E}">
        <p14:creationId xmlns:p14="http://schemas.microsoft.com/office/powerpoint/2010/main" val="18780642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5A119-6047-3A96-1387-A9381F91A50E}"/>
              </a:ext>
            </a:extLst>
          </p:cNvPr>
          <p:cNvSpPr>
            <a:spLocks noGrp="1"/>
          </p:cNvSpPr>
          <p:nvPr>
            <p:ph type="title"/>
          </p:nvPr>
        </p:nvSpPr>
        <p:spPr/>
        <p:txBody>
          <a:bodyPr>
            <a:normAutofit/>
          </a:bodyPr>
          <a:lstStyle/>
          <a:p>
            <a:pPr algn="ctr"/>
            <a:r>
              <a:rPr lang="en-IN" b="1" dirty="0">
                <a:latin typeface="Times New Roman" panose="02020603050405020304" pitchFamily="18" charset="0"/>
                <a:cs typeface="Times New Roman" panose="02020603050405020304" pitchFamily="18" charset="0"/>
              </a:rPr>
              <a:t>CHAPTER 1</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C10CE22D-6F09-B4E1-DB7C-8515434BF2B0}"/>
              </a:ext>
            </a:extLst>
          </p:cNvPr>
          <p:cNvSpPr>
            <a:spLocks noGrp="1"/>
          </p:cNvSpPr>
          <p:nvPr>
            <p:ph idx="1"/>
          </p:nvPr>
        </p:nvSpPr>
        <p:spPr/>
        <p:txBody>
          <a:bodyPr>
            <a:normAutofit fontScale="77500" lnSpcReduction="20000"/>
          </a:bodyPr>
          <a:lstStyle/>
          <a:p>
            <a:pPr marL="0" indent="0">
              <a:buNone/>
            </a:pPr>
            <a:r>
              <a:rPr lang="en-US" b="1" dirty="0">
                <a:latin typeface="Times New Roman" panose="02020603050405020304" pitchFamily="18" charset="0"/>
                <a:cs typeface="Times New Roman" panose="02020603050405020304" pitchFamily="18" charset="0"/>
              </a:rPr>
              <a:t>1.1 Introduction to the Problem :- </a:t>
            </a:r>
          </a:p>
          <a:p>
            <a:pPr marL="0" indent="0">
              <a:buNone/>
            </a:pPr>
            <a:r>
              <a:rPr lang="en-US" dirty="0">
                <a:latin typeface="Times New Roman" panose="02020603050405020304" pitchFamily="18" charset="0"/>
                <a:cs typeface="Times New Roman" panose="02020603050405020304" pitchFamily="18" charset="0"/>
              </a:rPr>
              <a:t>This C program simulates a simple E-commerce Shopping Cart System using stack data structures. It allows users to interact with a virtual shopping platform where they can: </a:t>
            </a:r>
          </a:p>
          <a:p>
            <a:pPr marL="0" indent="0">
              <a:buNone/>
            </a:pPr>
            <a:r>
              <a:rPr lang="en-US" dirty="0">
                <a:latin typeface="Times New Roman" panose="02020603050405020304" pitchFamily="18" charset="0"/>
                <a:cs typeface="Times New Roman" panose="02020603050405020304" pitchFamily="18" charset="0"/>
              </a:rPr>
              <a:t>❖ View discounted items </a:t>
            </a:r>
          </a:p>
          <a:p>
            <a:pPr marL="0" indent="0">
              <a:buNone/>
            </a:pPr>
            <a:r>
              <a:rPr lang="en-US" dirty="0">
                <a:latin typeface="Times New Roman" panose="02020603050405020304" pitchFamily="18" charset="0"/>
                <a:cs typeface="Times New Roman" panose="02020603050405020304" pitchFamily="18" charset="0"/>
              </a:rPr>
              <a:t>❖ Add or remove products from their cart </a:t>
            </a:r>
          </a:p>
          <a:p>
            <a:pPr marL="0" indent="0">
              <a:buNone/>
            </a:pPr>
            <a:r>
              <a:rPr lang="en-US" dirty="0">
                <a:latin typeface="Times New Roman" panose="02020603050405020304" pitchFamily="18" charset="0"/>
                <a:cs typeface="Times New Roman" panose="02020603050405020304" pitchFamily="18" charset="0"/>
              </a:rPr>
              <a:t>❖ View the current items in their cart </a:t>
            </a:r>
          </a:p>
          <a:p>
            <a:pPr marL="0" indent="0">
              <a:buNone/>
            </a:pPr>
            <a:r>
              <a:rPr lang="en-US" dirty="0">
                <a:latin typeface="Times New Roman" panose="02020603050405020304" pitchFamily="18" charset="0"/>
                <a:cs typeface="Times New Roman" panose="02020603050405020304" pitchFamily="18" charset="0"/>
              </a:rPr>
              <a:t>❖ See details of regular customers</a:t>
            </a:r>
          </a:p>
          <a:p>
            <a:pPr marL="0" indent="0">
              <a:buNone/>
            </a:pPr>
            <a:r>
              <a:rPr lang="en-US" dirty="0">
                <a:latin typeface="Times New Roman" panose="02020603050405020304" pitchFamily="18" charset="0"/>
                <a:cs typeface="Times New Roman" panose="02020603050405020304" pitchFamily="18" charset="0"/>
              </a:rPr>
              <a:t> ❖ Generate a detailed bill including discounts, GST, and delivery charges</a:t>
            </a:r>
          </a:p>
          <a:p>
            <a:pPr marL="0" indent="0">
              <a:buNone/>
            </a:pPr>
            <a:r>
              <a:rPr lang="en-US" dirty="0">
                <a:latin typeface="Times New Roman" panose="02020603050405020304" pitchFamily="18" charset="0"/>
                <a:cs typeface="Times New Roman" panose="02020603050405020304" pitchFamily="18" charset="0"/>
              </a:rPr>
              <a:t> ❖ Choose a payment mode (UPI or Cash on Delivery) The cart is implemented using a stack to reflect a "Last In, First Out" (LIFO) system, where the last item added is the first to be removed. The program also includes real-time date and time stamping for billing and validates user input for fields like phone numbers and UPI PINs. It demonstrates key concepts in C such as structures, arrays, functions, and standard I/O handling, and aims to provide a simple simulation of an online shopping experience. </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2A0E3DC-5709-C647-7F6C-FFEC7D2174FF}"/>
              </a:ext>
            </a:extLst>
          </p:cNvPr>
          <p:cNvSpPr>
            <a:spLocks noGrp="1"/>
          </p:cNvSpPr>
          <p:nvPr>
            <p:ph type="sldNum" sz="quarter" idx="12"/>
          </p:nvPr>
        </p:nvSpPr>
        <p:spPr/>
        <p:txBody>
          <a:bodyPr/>
          <a:lstStyle/>
          <a:p>
            <a:fld id="{25F51578-6835-4416-9DA3-8DC2171AF31D}" type="slidenum">
              <a:rPr lang="en-IN" smtClean="0"/>
              <a:t>4</a:t>
            </a:fld>
            <a:endParaRPr lang="en-IN"/>
          </a:p>
        </p:txBody>
      </p:sp>
    </p:spTree>
    <p:extLst>
      <p:ext uri="{BB962C8B-B14F-4D97-AF65-F5344CB8AC3E}">
        <p14:creationId xmlns:p14="http://schemas.microsoft.com/office/powerpoint/2010/main" val="11023750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A4E662-E9A8-6004-22D7-429DA8954D16}"/>
              </a:ext>
            </a:extLst>
          </p:cNvPr>
          <p:cNvSpPr>
            <a:spLocks noGrp="1"/>
          </p:cNvSpPr>
          <p:nvPr>
            <p:ph idx="1"/>
          </p:nvPr>
        </p:nvSpPr>
        <p:spPr>
          <a:xfrm>
            <a:off x="565484" y="136525"/>
            <a:ext cx="10515600" cy="6584950"/>
          </a:xfrm>
        </p:spPr>
        <p:txBody>
          <a:bodyPr>
            <a:normAutofit fontScale="92500" lnSpcReduction="20000"/>
          </a:bodyPr>
          <a:lstStyle/>
          <a:p>
            <a:pPr marL="0" indent="0">
              <a:buNone/>
            </a:pPr>
            <a:r>
              <a:rPr lang="en-US" b="1" dirty="0">
                <a:latin typeface="Times New Roman" panose="02020603050405020304" pitchFamily="18" charset="0"/>
                <a:cs typeface="Times New Roman" panose="02020603050405020304" pitchFamily="18" charset="0"/>
              </a:rPr>
              <a:t>1.2 Objectives:- </a:t>
            </a:r>
          </a:p>
          <a:p>
            <a:pPr marL="0" indent="0">
              <a:buNone/>
            </a:pPr>
            <a:r>
              <a:rPr lang="en-US" dirty="0">
                <a:latin typeface="Times New Roman" panose="02020603050405020304" pitchFamily="18" charset="0"/>
                <a:cs typeface="Times New Roman" panose="02020603050405020304" pitchFamily="18" charset="0"/>
              </a:rPr>
              <a:t>The objective of this program is to design and implement a console-based E-commerce Shopping Cart System in C that: </a:t>
            </a:r>
          </a:p>
          <a:p>
            <a:pPr marL="0" indent="0">
              <a:buNone/>
            </a:pPr>
            <a:r>
              <a:rPr lang="en-US" dirty="0">
                <a:latin typeface="Times New Roman" panose="02020603050405020304" pitchFamily="18" charset="0"/>
                <a:cs typeface="Times New Roman" panose="02020603050405020304" pitchFamily="18" charset="0"/>
              </a:rPr>
              <a:t>❖ Allows users to browse discounted items available for purchase.</a:t>
            </a:r>
          </a:p>
          <a:p>
            <a:pPr marL="0" indent="0">
              <a:buNone/>
            </a:pPr>
            <a:r>
              <a:rPr lang="en-US" dirty="0">
                <a:latin typeface="Times New Roman" panose="02020603050405020304" pitchFamily="18" charset="0"/>
                <a:cs typeface="Times New Roman" panose="02020603050405020304" pitchFamily="18" charset="0"/>
              </a:rPr>
              <a:t>❖ Collects customer information and ensures basic validation (e.g., phone number, UPI PIN). </a:t>
            </a:r>
          </a:p>
          <a:p>
            <a:pPr marL="0" indent="0">
              <a:buNone/>
            </a:pPr>
            <a:r>
              <a:rPr lang="en-US" dirty="0">
                <a:latin typeface="Times New Roman" panose="02020603050405020304" pitchFamily="18" charset="0"/>
                <a:cs typeface="Times New Roman" panose="02020603050405020304" pitchFamily="18" charset="0"/>
              </a:rPr>
              <a:t>❖ Displays a list of regular customers and their loyalty credit points. </a:t>
            </a:r>
          </a:p>
          <a:p>
            <a:pPr marL="0" indent="0">
              <a:buNone/>
            </a:pPr>
            <a:r>
              <a:rPr lang="en-US" dirty="0">
                <a:latin typeface="Times New Roman" panose="02020603050405020304" pitchFamily="18" charset="0"/>
                <a:cs typeface="Times New Roman" panose="02020603050405020304" pitchFamily="18" charset="0"/>
              </a:rPr>
              <a:t>❖ Generates a detailed bill that includes: </a:t>
            </a:r>
          </a:p>
          <a:p>
            <a:pPr marL="0" indent="0">
              <a:buNone/>
            </a:pPr>
            <a:r>
              <a:rPr lang="en-US" dirty="0">
                <a:latin typeface="Times New Roman" panose="02020603050405020304" pitchFamily="18" charset="0"/>
                <a:cs typeface="Times New Roman" panose="02020603050405020304" pitchFamily="18" charset="0"/>
              </a:rPr>
              <a:t>• Itemized breakdown of purchases </a:t>
            </a:r>
          </a:p>
          <a:p>
            <a:pPr marL="0" indent="0">
              <a:buNone/>
            </a:pPr>
            <a:r>
              <a:rPr lang="en-US" dirty="0">
                <a:latin typeface="Times New Roman" panose="02020603050405020304" pitchFamily="18" charset="0"/>
                <a:cs typeface="Times New Roman" panose="02020603050405020304" pitchFamily="18" charset="0"/>
              </a:rPr>
              <a:t>• Carry bag and delivery charges </a:t>
            </a:r>
          </a:p>
          <a:p>
            <a:pPr marL="0" indent="0">
              <a:buNone/>
            </a:pPr>
            <a:r>
              <a:rPr lang="en-US" dirty="0">
                <a:latin typeface="Times New Roman" panose="02020603050405020304" pitchFamily="18" charset="0"/>
                <a:cs typeface="Times New Roman" panose="02020603050405020304" pitchFamily="18" charset="0"/>
              </a:rPr>
              <a:t>• Discounts and applicable GST</a:t>
            </a:r>
          </a:p>
          <a:p>
            <a:pPr marL="0" indent="0">
              <a:buNone/>
            </a:pPr>
            <a:r>
              <a:rPr lang="en-US" dirty="0">
                <a:latin typeface="Times New Roman" panose="02020603050405020304" pitchFamily="18" charset="0"/>
                <a:cs typeface="Times New Roman" panose="02020603050405020304" pitchFamily="18" charset="0"/>
              </a:rPr>
              <a:t>• Final payable amount </a:t>
            </a:r>
          </a:p>
          <a:p>
            <a:pPr marL="0" indent="0">
              <a:buNone/>
            </a:pPr>
            <a:r>
              <a:rPr lang="en-US" dirty="0">
                <a:latin typeface="Times New Roman" panose="02020603050405020304" pitchFamily="18" charset="0"/>
                <a:cs typeface="Times New Roman" panose="02020603050405020304" pitchFamily="18" charset="0"/>
              </a:rPr>
              <a:t>❖ Offers multiple payment options, simulating both UPI and Cash on Delivery. </a:t>
            </a:r>
          </a:p>
          <a:p>
            <a:pPr marL="0" indent="0">
              <a:buNone/>
            </a:pPr>
            <a:r>
              <a:rPr lang="en-US" dirty="0">
                <a:latin typeface="Times New Roman" panose="02020603050405020304" pitchFamily="18" charset="0"/>
                <a:cs typeface="Times New Roman" panose="02020603050405020304" pitchFamily="18" charset="0"/>
              </a:rPr>
              <a:t>• The program demonstrates basic data structure usage, file-less transaction simulation, and user interaction handling in C, mimicking a real-world online shopping experience.</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66EB332-AE91-912B-7DEF-B4243A991077}"/>
              </a:ext>
            </a:extLst>
          </p:cNvPr>
          <p:cNvSpPr>
            <a:spLocks noGrp="1"/>
          </p:cNvSpPr>
          <p:nvPr>
            <p:ph type="sldNum" sz="quarter" idx="12"/>
          </p:nvPr>
        </p:nvSpPr>
        <p:spPr/>
        <p:txBody>
          <a:bodyPr/>
          <a:lstStyle/>
          <a:p>
            <a:fld id="{25F51578-6835-4416-9DA3-8DC2171AF31D}" type="slidenum">
              <a:rPr lang="en-IN" smtClean="0"/>
              <a:t>5</a:t>
            </a:fld>
            <a:endParaRPr lang="en-IN"/>
          </a:p>
        </p:txBody>
      </p:sp>
    </p:spTree>
    <p:extLst>
      <p:ext uri="{BB962C8B-B14F-4D97-AF65-F5344CB8AC3E}">
        <p14:creationId xmlns:p14="http://schemas.microsoft.com/office/powerpoint/2010/main" val="20479069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EB121E-5EF0-13F1-747F-73DF4ADFFBA9}"/>
              </a:ext>
            </a:extLst>
          </p:cNvPr>
          <p:cNvSpPr>
            <a:spLocks noGrp="1"/>
          </p:cNvSpPr>
          <p:nvPr>
            <p:ph idx="1"/>
          </p:nvPr>
        </p:nvSpPr>
        <p:spPr>
          <a:xfrm>
            <a:off x="1066800" y="417095"/>
            <a:ext cx="10058400" cy="5617945"/>
          </a:xfrm>
        </p:spPr>
        <p:txBody>
          <a:bodyPr>
            <a:normAutofit fontScale="77500" lnSpcReduction="20000"/>
          </a:bodyPr>
          <a:lstStyle/>
          <a:p>
            <a:pPr marL="0" indent="0">
              <a:buNone/>
            </a:pPr>
            <a:r>
              <a:rPr lang="en-US" b="1" dirty="0"/>
              <a:t>1.3 Relevance to Data Structures:- </a:t>
            </a:r>
          </a:p>
          <a:p>
            <a:pPr marL="0" indent="0">
              <a:buNone/>
            </a:pPr>
            <a:r>
              <a:rPr lang="en-US" dirty="0">
                <a:latin typeface="Times New Roman" panose="02020603050405020304" pitchFamily="18" charset="0"/>
                <a:cs typeface="Times New Roman" panose="02020603050405020304" pitchFamily="18" charset="0"/>
              </a:rPr>
              <a:t>This program aims to: </a:t>
            </a:r>
          </a:p>
          <a:p>
            <a:pPr marL="0" indent="0">
              <a:buNone/>
            </a:pPr>
            <a:r>
              <a:rPr lang="en-US" dirty="0">
                <a:latin typeface="Times New Roman" panose="02020603050405020304" pitchFamily="18" charset="0"/>
                <a:cs typeface="Times New Roman" panose="02020603050405020304" pitchFamily="18" charset="0"/>
              </a:rPr>
              <a:t>• Demonstrate the use of a Stack data structure to manage the shopping cart, allowing </a:t>
            </a:r>
            <a:r>
              <a:rPr lang="en-US" u="sng" dirty="0">
                <a:latin typeface="Times New Roman" panose="02020603050405020304" pitchFamily="18" charset="0"/>
                <a:cs typeface="Times New Roman" panose="02020603050405020304" pitchFamily="18" charset="0"/>
              </a:rPr>
              <a:t>Last-In-First-Out (LIFO) </a:t>
            </a:r>
            <a:r>
              <a:rPr lang="en-US" dirty="0">
                <a:latin typeface="Times New Roman" panose="02020603050405020304" pitchFamily="18" charset="0"/>
                <a:cs typeface="Times New Roman" panose="02020603050405020304" pitchFamily="18" charset="0"/>
              </a:rPr>
              <a:t>operations such as adding (push) and removing (pop) items. </a:t>
            </a:r>
          </a:p>
          <a:p>
            <a:pPr marL="0" indent="0">
              <a:buNone/>
            </a:pPr>
            <a:r>
              <a:rPr lang="en-US" dirty="0">
                <a:latin typeface="Times New Roman" panose="02020603050405020304" pitchFamily="18" charset="0"/>
                <a:cs typeface="Times New Roman" panose="02020603050405020304" pitchFamily="18" charset="0"/>
              </a:rPr>
              <a:t>• Use arrays to store and manipulate collections of Item and Customer records efficiently. </a:t>
            </a:r>
          </a:p>
          <a:p>
            <a:pPr marL="0" indent="0">
              <a:buNone/>
            </a:pPr>
            <a:r>
              <a:rPr lang="en-US" dirty="0">
                <a:latin typeface="Times New Roman" panose="02020603050405020304" pitchFamily="18" charset="0"/>
                <a:cs typeface="Times New Roman" panose="02020603050405020304" pitchFamily="18" charset="0"/>
              </a:rPr>
              <a:t>• Implement structure-based design, using struct in C to model real-world entities such as Item, Customer, and Stack. </a:t>
            </a:r>
          </a:p>
          <a:p>
            <a:pPr marL="0" indent="0">
              <a:buNone/>
            </a:pPr>
            <a:r>
              <a:rPr lang="en-US" dirty="0">
                <a:latin typeface="Times New Roman" panose="02020603050405020304" pitchFamily="18" charset="0"/>
                <a:cs typeface="Times New Roman" panose="02020603050405020304" pitchFamily="18" charset="0"/>
              </a:rPr>
              <a:t>• Apply linear traversal techniques to search, display, and process stored data (e.g., computing total price, discounts, and generating bills). </a:t>
            </a:r>
          </a:p>
          <a:p>
            <a:pPr marL="0" indent="0">
              <a:buNone/>
            </a:pPr>
            <a:r>
              <a:rPr lang="en-US" dirty="0">
                <a:latin typeface="Times New Roman" panose="02020603050405020304" pitchFamily="18" charset="0"/>
                <a:cs typeface="Times New Roman" panose="02020603050405020304" pitchFamily="18" charset="0"/>
              </a:rPr>
              <a:t>• Simulate an interactive e-commerce environment where the stack structure maintains cart integrity and supports bill generation only from the most recent stack state. </a:t>
            </a:r>
          </a:p>
          <a:p>
            <a:pPr marL="0" indent="0">
              <a:buNone/>
            </a:pPr>
            <a:r>
              <a:rPr lang="en-US" dirty="0">
                <a:latin typeface="Times New Roman" panose="02020603050405020304" pitchFamily="18" charset="0"/>
                <a:cs typeface="Times New Roman" panose="02020603050405020304" pitchFamily="18" charset="0"/>
              </a:rPr>
              <a:t>• Offer practical insight into how basic data structures like Stacks and Arrays can be effectively used in real-world applications such as inventory and cart management. Through this project, the user gains an understanding of how fundamental data structures are applied in software systems for managing, organizing, and processing data efficiently.</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6E93CD1-2B23-2F39-E0B8-C3CF170ADF7F}"/>
              </a:ext>
            </a:extLst>
          </p:cNvPr>
          <p:cNvSpPr>
            <a:spLocks noGrp="1"/>
          </p:cNvSpPr>
          <p:nvPr>
            <p:ph type="sldNum" sz="quarter" idx="12"/>
          </p:nvPr>
        </p:nvSpPr>
        <p:spPr/>
        <p:txBody>
          <a:bodyPr/>
          <a:lstStyle/>
          <a:p>
            <a:fld id="{25F51578-6835-4416-9DA3-8DC2171AF31D}" type="slidenum">
              <a:rPr lang="en-IN" smtClean="0"/>
              <a:t>6</a:t>
            </a:fld>
            <a:endParaRPr lang="en-IN"/>
          </a:p>
        </p:txBody>
      </p:sp>
    </p:spTree>
    <p:extLst>
      <p:ext uri="{BB962C8B-B14F-4D97-AF65-F5344CB8AC3E}">
        <p14:creationId xmlns:p14="http://schemas.microsoft.com/office/powerpoint/2010/main" val="10440318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9091D-73F1-B7EA-1D53-9F97AE8871C7}"/>
              </a:ext>
            </a:extLst>
          </p:cNvPr>
          <p:cNvSpPr>
            <a:spLocks noGrp="1"/>
          </p:cNvSpPr>
          <p:nvPr>
            <p:ph type="title"/>
          </p:nvPr>
        </p:nvSpPr>
        <p:spPr/>
        <p:txBody>
          <a:bodyPr>
            <a:normAutofit/>
          </a:bodyPr>
          <a:lstStyle/>
          <a:p>
            <a:pPr algn="ctr"/>
            <a:r>
              <a:rPr lang="en-IN" b="1" dirty="0">
                <a:latin typeface="Times New Roman" panose="02020603050405020304" pitchFamily="18" charset="0"/>
                <a:cs typeface="Times New Roman" panose="02020603050405020304" pitchFamily="18" charset="0"/>
              </a:rPr>
              <a:t>CHAPTER 2 </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LITERATURE REVIEW</a:t>
            </a:r>
          </a:p>
        </p:txBody>
      </p:sp>
      <p:sp>
        <p:nvSpPr>
          <p:cNvPr id="3" name="Content Placeholder 2">
            <a:extLst>
              <a:ext uri="{FF2B5EF4-FFF2-40B4-BE49-F238E27FC236}">
                <a16:creationId xmlns:a16="http://schemas.microsoft.com/office/drawing/2014/main" id="{99E9C950-555A-7322-2A5C-1F6F308E3B13}"/>
              </a:ext>
            </a:extLst>
          </p:cNvPr>
          <p:cNvSpPr>
            <a:spLocks noGrp="1"/>
          </p:cNvSpPr>
          <p:nvPr>
            <p:ph idx="1"/>
          </p:nvPr>
        </p:nvSpPr>
        <p:spPr/>
        <p:txBody>
          <a:bodyPr>
            <a:normAutofit fontScale="77500" lnSpcReduction="20000"/>
          </a:bodyPr>
          <a:lstStyle/>
          <a:p>
            <a:pPr marL="0" indent="0">
              <a:buNone/>
            </a:pPr>
            <a:r>
              <a:rPr lang="en-US" b="1" dirty="0">
                <a:latin typeface="Times New Roman" panose="02020603050405020304" pitchFamily="18" charset="0"/>
                <a:cs typeface="Times New Roman" panose="02020603050405020304" pitchFamily="18" charset="0"/>
              </a:rPr>
              <a:t>2.1 Summary of Related Work or Theory:- </a:t>
            </a:r>
          </a:p>
          <a:p>
            <a:pPr marL="0" indent="0">
              <a:buNone/>
            </a:pPr>
            <a:r>
              <a:rPr lang="en-US" b="1" dirty="0">
                <a:latin typeface="Times New Roman" panose="02020603050405020304" pitchFamily="18" charset="0"/>
                <a:cs typeface="Times New Roman" panose="02020603050405020304" pitchFamily="18" charset="0"/>
              </a:rPr>
              <a:t>Use of Stack in Cart Management </a:t>
            </a:r>
          </a:p>
          <a:p>
            <a:pPr marL="0" indent="0">
              <a:buNone/>
            </a:pPr>
            <a:r>
              <a:rPr lang="en-US" dirty="0">
                <a:latin typeface="Times New Roman" panose="02020603050405020304" pitchFamily="18" charset="0"/>
                <a:cs typeface="Times New Roman" panose="02020603050405020304" pitchFamily="18" charset="0"/>
              </a:rPr>
              <a:t>According to Aho, Hopcroft, and Ullman (1983) in their book Data Structures and Algorithms, the stack is a crucial data structure ideal for undo operations and managing recent actions. This aligns with the behavior of removing the last-added item from a cart, a common feature in modern e-commerce applications.</a:t>
            </a:r>
          </a:p>
          <a:p>
            <a:pPr marL="0" indent="0">
              <a:buNone/>
            </a:pPr>
            <a:r>
              <a:rPr lang="en-US" dirty="0">
                <a:latin typeface="Times New Roman" panose="02020603050405020304" pitchFamily="18" charset="0"/>
                <a:cs typeface="Times New Roman" panose="02020603050405020304" pitchFamily="18" charset="0"/>
              </a:rPr>
              <a:t> Tanenbaum (1990) in Data Structures Using C highlights how stacks can be implemented efficiently using arrays or linked lists. This theory supports the design of the shopping cart in this project, where an array-based stack is used to hold cart items.[1]</a:t>
            </a:r>
          </a:p>
          <a:p>
            <a:pPr marL="0" indent="0">
              <a:buNone/>
            </a:pPr>
            <a:r>
              <a:rPr lang="en-US" b="1" dirty="0">
                <a:latin typeface="Times New Roman" panose="02020603050405020304" pitchFamily="18" charset="0"/>
                <a:cs typeface="Times New Roman" panose="02020603050405020304" pitchFamily="18" charset="0"/>
              </a:rPr>
              <a:t> Struct-Based Data Modeling in C </a:t>
            </a:r>
          </a:p>
          <a:p>
            <a:pPr marL="0" indent="0">
              <a:buNone/>
            </a:pPr>
            <a:r>
              <a:rPr lang="en-US" dirty="0">
                <a:latin typeface="Times New Roman" panose="02020603050405020304" pitchFamily="18" charset="0"/>
                <a:cs typeface="Times New Roman" panose="02020603050405020304" pitchFamily="18" charset="0"/>
              </a:rPr>
              <a:t>In The C Programming Language by Kernighan and Ritchie (1988), the use of struct is emphasized for representing real-world entities. This project uses struct to define items, customers, and the stack, facilitating organized data handling and improved readability in C.[2]</a:t>
            </a:r>
          </a:p>
        </p:txBody>
      </p:sp>
      <p:sp>
        <p:nvSpPr>
          <p:cNvPr id="4" name="Slide Number Placeholder 3">
            <a:extLst>
              <a:ext uri="{FF2B5EF4-FFF2-40B4-BE49-F238E27FC236}">
                <a16:creationId xmlns:a16="http://schemas.microsoft.com/office/drawing/2014/main" id="{23AAA637-D285-5373-A7C6-12DA2D4F3113}"/>
              </a:ext>
            </a:extLst>
          </p:cNvPr>
          <p:cNvSpPr>
            <a:spLocks noGrp="1"/>
          </p:cNvSpPr>
          <p:nvPr>
            <p:ph type="sldNum" sz="quarter" idx="12"/>
          </p:nvPr>
        </p:nvSpPr>
        <p:spPr/>
        <p:txBody>
          <a:bodyPr/>
          <a:lstStyle/>
          <a:p>
            <a:fld id="{25F51578-6835-4416-9DA3-8DC2171AF31D}" type="slidenum">
              <a:rPr lang="en-IN" smtClean="0"/>
              <a:t>7</a:t>
            </a:fld>
            <a:endParaRPr lang="en-IN"/>
          </a:p>
        </p:txBody>
      </p:sp>
    </p:spTree>
    <p:extLst>
      <p:ext uri="{BB962C8B-B14F-4D97-AF65-F5344CB8AC3E}">
        <p14:creationId xmlns:p14="http://schemas.microsoft.com/office/powerpoint/2010/main" val="16009275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EB8FE1-108B-432B-0B61-346ACC58FEB5}"/>
              </a:ext>
            </a:extLst>
          </p:cNvPr>
          <p:cNvSpPr>
            <a:spLocks noGrp="1"/>
          </p:cNvSpPr>
          <p:nvPr>
            <p:ph idx="1"/>
          </p:nvPr>
        </p:nvSpPr>
        <p:spPr>
          <a:xfrm>
            <a:off x="1066800" y="386080"/>
            <a:ext cx="10058400" cy="5648960"/>
          </a:xfrm>
        </p:spPr>
        <p:txBody>
          <a:bodyPr>
            <a:normAutofit fontScale="92500" lnSpcReduction="20000"/>
          </a:bodyPr>
          <a:lstStyle/>
          <a:p>
            <a:pPr marL="0" indent="0">
              <a:buNone/>
            </a:pPr>
            <a:r>
              <a:rPr lang="en-US" b="1" dirty="0"/>
              <a:t> </a:t>
            </a:r>
            <a:r>
              <a:rPr lang="en-US" b="1" dirty="0">
                <a:latin typeface="Times New Roman" panose="02020603050405020304" pitchFamily="18" charset="0"/>
                <a:cs typeface="Times New Roman" panose="02020603050405020304" pitchFamily="18" charset="0"/>
              </a:rPr>
              <a:t>E-Commerce and Cart System Research </a:t>
            </a:r>
          </a:p>
          <a:p>
            <a:pPr marL="0" indent="0">
              <a:buNone/>
            </a:pPr>
            <a:r>
              <a:rPr lang="en-US" dirty="0">
                <a:latin typeface="Times New Roman" panose="02020603050405020304" pitchFamily="18" charset="0"/>
                <a:cs typeface="Times New Roman" panose="02020603050405020304" pitchFamily="18" charset="0"/>
              </a:rPr>
              <a:t>Gupta et al. (2019) in their paper "Design and Implementation of Online Shopping Cart System" (International Journal of Computer Applications) discuss basic cart features, including item addition, deletion, and checkout processes. However, their work does not focus on stack-based implementation, which this project addresses by introducing stack logic for cart behavior. </a:t>
            </a:r>
          </a:p>
          <a:p>
            <a:pPr marL="0" indent="0">
              <a:buNone/>
            </a:pPr>
            <a:r>
              <a:rPr lang="en-US" dirty="0">
                <a:latin typeface="Times New Roman" panose="02020603050405020304" pitchFamily="18" charset="0"/>
                <a:cs typeface="Times New Roman" panose="02020603050405020304" pitchFamily="18" charset="0"/>
              </a:rPr>
              <a:t>Singh &amp; Sharma (2020) in "Efficient Data Structures in E-Commerce Application Design" suggest that using appropriate data structures can reduce memory usage and increase application responsiveness. They emphasize the role of stacks in features like browsing history, product comparisons, and shopping carts.[3]</a:t>
            </a:r>
          </a:p>
          <a:p>
            <a:pPr marL="0" indent="0">
              <a:buNone/>
            </a:pPr>
            <a:r>
              <a:rPr lang="en-US" b="1" dirty="0">
                <a:latin typeface="Times New Roman" panose="02020603050405020304" pitchFamily="18" charset="0"/>
                <a:cs typeface="Times New Roman" panose="02020603050405020304" pitchFamily="18" charset="0"/>
              </a:rPr>
              <a:t> Billing and Transaction Logic </a:t>
            </a:r>
          </a:p>
          <a:p>
            <a:pPr marL="0" indent="0">
              <a:buNone/>
            </a:pPr>
            <a:r>
              <a:rPr lang="en-US" dirty="0">
                <a:latin typeface="Times New Roman" panose="02020603050405020304" pitchFamily="18" charset="0"/>
                <a:cs typeface="Times New Roman" panose="02020603050405020304" pitchFamily="18" charset="0"/>
              </a:rPr>
              <a:t>The logic for billing, including discount rules and tax computation, follows principles discussed by Kumar &amp; Raj (2018) in "A Review on Billing Systems in  Online Retailing" (International Journal of Retail &amp; Distribution). They mention that simple rules (e.g., 10% discounts, GST) can be modularized into reusable components, which this project reflects. </a:t>
            </a:r>
            <a:endParaRPr lang="en-IN"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4" name="Slide Number Placeholder 3">
            <a:extLst>
              <a:ext uri="{FF2B5EF4-FFF2-40B4-BE49-F238E27FC236}">
                <a16:creationId xmlns:a16="http://schemas.microsoft.com/office/drawing/2014/main" id="{8101128F-2F35-8718-1660-6C59F96B7832}"/>
              </a:ext>
            </a:extLst>
          </p:cNvPr>
          <p:cNvSpPr>
            <a:spLocks noGrp="1"/>
          </p:cNvSpPr>
          <p:nvPr>
            <p:ph type="sldNum" sz="quarter" idx="12"/>
          </p:nvPr>
        </p:nvSpPr>
        <p:spPr/>
        <p:txBody>
          <a:bodyPr/>
          <a:lstStyle/>
          <a:p>
            <a:fld id="{25F51578-6835-4416-9DA3-8DC2171AF31D}" type="slidenum">
              <a:rPr lang="en-IN" smtClean="0"/>
              <a:t>8</a:t>
            </a:fld>
            <a:endParaRPr lang="en-IN"/>
          </a:p>
        </p:txBody>
      </p:sp>
    </p:spTree>
    <p:extLst>
      <p:ext uri="{BB962C8B-B14F-4D97-AF65-F5344CB8AC3E}">
        <p14:creationId xmlns:p14="http://schemas.microsoft.com/office/powerpoint/2010/main" val="1651393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ECA0F4-F6EE-A03D-34FB-9ACE46E84F40}"/>
              </a:ext>
            </a:extLst>
          </p:cNvPr>
          <p:cNvSpPr>
            <a:spLocks noGrp="1"/>
          </p:cNvSpPr>
          <p:nvPr>
            <p:ph idx="1"/>
          </p:nvPr>
        </p:nvSpPr>
        <p:spPr>
          <a:xfrm>
            <a:off x="1066800" y="386080"/>
            <a:ext cx="10058400" cy="5648960"/>
          </a:xfrm>
        </p:spPr>
        <p:txBody>
          <a:bodyPr>
            <a:normAutofit fontScale="70000" lnSpcReduction="20000"/>
          </a:bodyPr>
          <a:lstStyle/>
          <a:p>
            <a:pPr marL="0" indent="0">
              <a:buNone/>
            </a:pPr>
            <a:r>
              <a:rPr lang="en-US" b="1" dirty="0">
                <a:latin typeface="Times New Roman" panose="02020603050405020304" pitchFamily="18" charset="0"/>
                <a:cs typeface="Times New Roman" panose="02020603050405020304" pitchFamily="18" charset="0"/>
              </a:rPr>
              <a:t>2.2 Description of Similar Implementations:-</a:t>
            </a:r>
          </a:p>
          <a:p>
            <a:pPr marL="0" indent="0">
              <a:buNone/>
            </a:pPr>
            <a:r>
              <a:rPr lang="en-US" dirty="0">
                <a:latin typeface="Times New Roman" panose="02020603050405020304" pitchFamily="18" charset="0"/>
                <a:cs typeface="Times New Roman" panose="02020603050405020304" pitchFamily="18" charset="0"/>
              </a:rPr>
              <a:t> Numerous e-commerce platforms and academic projects have implemented shopping cart systems with varying levels of complexity. While many rely on traditional database-driven models, only a few explicitly utilize stack-based algorithms for managing cart operations. </a:t>
            </a:r>
          </a:p>
          <a:p>
            <a:pPr marL="342900" indent="-342900">
              <a:buAutoNum type="arabicPeriod"/>
            </a:pPr>
            <a:r>
              <a:rPr lang="en-US" b="1" dirty="0">
                <a:latin typeface="Times New Roman" panose="02020603050405020304" pitchFamily="18" charset="0"/>
                <a:cs typeface="Times New Roman" panose="02020603050405020304" pitchFamily="18" charset="0"/>
              </a:rPr>
              <a:t>Basic E-commerce Cart System (Gupta et al., 2019)</a:t>
            </a:r>
          </a:p>
          <a:p>
            <a:pPr marL="0" indent="0">
              <a:buNone/>
            </a:pPr>
            <a:r>
              <a:rPr lang="en-US" dirty="0">
                <a:latin typeface="Times New Roman" panose="02020603050405020304" pitchFamily="18" charset="0"/>
                <a:cs typeface="Times New Roman" panose="02020603050405020304" pitchFamily="18" charset="0"/>
              </a:rPr>
              <a:t> In their system, items are added and stored using dynamic lists. Users could add, view, or delete products before purchase. However, the delete function removed items based on item ID or name, not following the LIFO (Last-In, First-Out) approach that a stack provides. This makes it less effective for real-time item undo operations, which is a key benefit of stack usage. </a:t>
            </a:r>
          </a:p>
          <a:p>
            <a:pPr marL="0" indent="0">
              <a:buNone/>
            </a:pPr>
            <a:r>
              <a:rPr lang="en-US" b="1" dirty="0">
                <a:latin typeface="Times New Roman" panose="02020603050405020304" pitchFamily="18" charset="0"/>
                <a:cs typeface="Times New Roman" panose="02020603050405020304" pitchFamily="18" charset="0"/>
              </a:rPr>
              <a:t>2. Stack-Based Undo Functionality in GUI Shopping Carts (Singh &amp; Sharma, 2020) </a:t>
            </a:r>
          </a:p>
          <a:p>
            <a:pPr marL="0" indent="0">
              <a:buNone/>
            </a:pPr>
            <a:r>
              <a:rPr lang="en-US" dirty="0">
                <a:latin typeface="Times New Roman" panose="02020603050405020304" pitchFamily="18" charset="0"/>
                <a:cs typeface="Times New Roman" panose="02020603050405020304" pitchFamily="18" charset="0"/>
              </a:rPr>
              <a:t>Their project introduced a GUI cart where stack operations were used to track the user's actions, particularly for undoing product selections and quantity changes. While this showcased the flexibility of stack use, it did not manage the actual shopping cart content using stacks, which differentiates it from the current work. </a:t>
            </a:r>
          </a:p>
          <a:p>
            <a:pPr marL="0" indent="0">
              <a:buNone/>
            </a:pPr>
            <a:r>
              <a:rPr lang="en-US" b="1" dirty="0">
                <a:latin typeface="Times New Roman" panose="02020603050405020304" pitchFamily="18" charset="0"/>
                <a:cs typeface="Times New Roman" panose="02020603050405020304" pitchFamily="18" charset="0"/>
              </a:rPr>
              <a:t>3. Mobile Shopping Cart Applications </a:t>
            </a:r>
          </a:p>
          <a:p>
            <a:pPr marL="0" indent="0">
              <a:buNone/>
            </a:pPr>
            <a:r>
              <a:rPr lang="en-US" dirty="0">
                <a:latin typeface="Times New Roman" panose="02020603050405020304" pitchFamily="18" charset="0"/>
                <a:cs typeface="Times New Roman" panose="02020603050405020304" pitchFamily="18" charset="0"/>
              </a:rPr>
              <a:t>Mobile apps like those built on Flutter or React Native typically use state management tools (e.g., Provider, Redux) to handle cart data. Internally, these systems may use stack-like logic for recent action history, but cart data is typically modeled using arrays or hash maps for random access and updating. Hence, stack-specific logic for removing the last added item is rarely seen.</a:t>
            </a:r>
          </a:p>
        </p:txBody>
      </p:sp>
      <p:sp>
        <p:nvSpPr>
          <p:cNvPr id="4" name="Slide Number Placeholder 3">
            <a:extLst>
              <a:ext uri="{FF2B5EF4-FFF2-40B4-BE49-F238E27FC236}">
                <a16:creationId xmlns:a16="http://schemas.microsoft.com/office/drawing/2014/main" id="{8D138DE8-1A61-C3FB-D3D5-B6361D1369F5}"/>
              </a:ext>
            </a:extLst>
          </p:cNvPr>
          <p:cNvSpPr>
            <a:spLocks noGrp="1"/>
          </p:cNvSpPr>
          <p:nvPr>
            <p:ph type="sldNum" sz="quarter" idx="12"/>
          </p:nvPr>
        </p:nvSpPr>
        <p:spPr/>
        <p:txBody>
          <a:bodyPr/>
          <a:lstStyle/>
          <a:p>
            <a:fld id="{25F51578-6835-4416-9DA3-8DC2171AF31D}" type="slidenum">
              <a:rPr lang="en-IN" smtClean="0"/>
              <a:t>9</a:t>
            </a:fld>
            <a:endParaRPr lang="en-IN"/>
          </a:p>
        </p:txBody>
      </p:sp>
    </p:spTree>
    <p:extLst>
      <p:ext uri="{BB962C8B-B14F-4D97-AF65-F5344CB8AC3E}">
        <p14:creationId xmlns:p14="http://schemas.microsoft.com/office/powerpoint/2010/main" val="8898541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76D5CF-8FA8-0996-6329-599B66C85AB9}"/>
              </a:ext>
            </a:extLst>
          </p:cNvPr>
          <p:cNvSpPr>
            <a:spLocks noGrp="1"/>
          </p:cNvSpPr>
          <p:nvPr>
            <p:ph idx="1"/>
          </p:nvPr>
        </p:nvSpPr>
        <p:spPr>
          <a:xfrm>
            <a:off x="1066800" y="276008"/>
            <a:ext cx="10058400" cy="5759032"/>
          </a:xfrm>
        </p:spPr>
        <p:txBody>
          <a:bodyPr>
            <a:normAutofit fontScale="77500" lnSpcReduction="20000"/>
          </a:bodyPr>
          <a:lstStyle/>
          <a:p>
            <a:pPr marL="0" indent="0">
              <a:buNone/>
            </a:pPr>
            <a:r>
              <a:rPr lang="en-US" b="1" dirty="0">
                <a:latin typeface="Times New Roman" panose="02020603050405020304" pitchFamily="18" charset="0"/>
                <a:cs typeface="Times New Roman" panose="02020603050405020304" pitchFamily="18" charset="0"/>
              </a:rPr>
              <a:t>4. Command Line-Based Grocery Store Cart System in C (Patel et al., 2021) </a:t>
            </a:r>
          </a:p>
          <a:p>
            <a:pPr marL="0" indent="0">
              <a:buNone/>
            </a:pPr>
            <a:r>
              <a:rPr lang="en-US" dirty="0">
                <a:latin typeface="Times New Roman" panose="02020603050405020304" pitchFamily="18" charset="0"/>
                <a:cs typeface="Times New Roman" panose="02020603050405020304" pitchFamily="18" charset="0"/>
              </a:rPr>
              <a:t>This system allowed users to add, remove, and list items using console inputs. While it used basic C constructs and structs similar to the current project, it relied on arrays and manual shifting of elements to delete items. The lack of structured stack logic meant that deletion was arbitrary, not LIFO-based. </a:t>
            </a:r>
          </a:p>
          <a:p>
            <a:pPr marL="0" indent="0">
              <a:buNone/>
            </a:pPr>
            <a:r>
              <a:rPr lang="en-US" b="1" dirty="0">
                <a:latin typeface="Times New Roman" panose="02020603050405020304" pitchFamily="18" charset="0"/>
                <a:cs typeface="Times New Roman" panose="02020603050405020304" pitchFamily="18" charset="0"/>
              </a:rPr>
              <a:t>5. Stack in Browser-Based Session Management </a:t>
            </a:r>
          </a:p>
          <a:p>
            <a:pPr marL="0" indent="0">
              <a:buNone/>
            </a:pPr>
            <a:r>
              <a:rPr lang="en-US" dirty="0">
                <a:latin typeface="Times New Roman" panose="02020603050405020304" pitchFamily="18" charset="0"/>
                <a:cs typeface="Times New Roman" panose="02020603050405020304" pitchFamily="18" charset="0"/>
              </a:rPr>
              <a:t>Although not directly related to carts, many online platforms (e.g., Amazon, Flipkart) use stacks to manage browsing history. These stack-based mechanisms allow users to “go back” to previously viewed items, showcasing the adaptability of stacks in other parts of e-commerce systems.</a:t>
            </a:r>
          </a:p>
          <a:p>
            <a:pPr marL="0" indent="0">
              <a:buNone/>
            </a:pPr>
            <a:r>
              <a:rPr lang="en-US" b="1" dirty="0">
                <a:latin typeface="Times New Roman" panose="02020603050405020304" pitchFamily="18" charset="0"/>
                <a:cs typeface="Times New Roman" panose="02020603050405020304" pitchFamily="18" charset="0"/>
              </a:rPr>
              <a:t> Comparison with Current Work </a:t>
            </a:r>
          </a:p>
          <a:p>
            <a:pPr marL="0" indent="0">
              <a:buNone/>
            </a:pPr>
            <a:r>
              <a:rPr lang="en-US" dirty="0">
                <a:latin typeface="Times New Roman" panose="02020603050405020304" pitchFamily="18" charset="0"/>
                <a:cs typeface="Times New Roman" panose="02020603050405020304" pitchFamily="18" charset="0"/>
              </a:rPr>
              <a:t>The current implementation stands out by: </a:t>
            </a:r>
          </a:p>
          <a:p>
            <a:pPr marL="0" indent="0">
              <a:buNone/>
            </a:pPr>
            <a:r>
              <a:rPr lang="en-US" dirty="0">
                <a:latin typeface="Times New Roman" panose="02020603050405020304" pitchFamily="18" charset="0"/>
                <a:cs typeface="Times New Roman" panose="02020603050405020304" pitchFamily="18" charset="0"/>
              </a:rPr>
              <a:t>• Explicitly using a stack to model the shopping cart. </a:t>
            </a:r>
          </a:p>
          <a:p>
            <a:pPr marL="0" indent="0">
              <a:buNone/>
            </a:pPr>
            <a:r>
              <a:rPr lang="en-US" dirty="0">
                <a:latin typeface="Times New Roman" panose="02020603050405020304" pitchFamily="18" charset="0"/>
                <a:cs typeface="Times New Roman" panose="02020603050405020304" pitchFamily="18" charset="0"/>
              </a:rPr>
              <a:t>• Implementing LIFO logic for removal (last-added item is the first removed). </a:t>
            </a:r>
          </a:p>
          <a:p>
            <a:pPr marL="0" indent="0">
              <a:buNone/>
            </a:pPr>
            <a:r>
              <a:rPr lang="en-US" dirty="0">
                <a:latin typeface="Times New Roman" panose="02020603050405020304" pitchFamily="18" charset="0"/>
                <a:cs typeface="Times New Roman" panose="02020603050405020304" pitchFamily="18" charset="0"/>
              </a:rPr>
              <a:t>• Using structs in C for organizing items and customer data. </a:t>
            </a:r>
          </a:p>
          <a:p>
            <a:pPr marL="0" indent="0">
              <a:buNone/>
            </a:pPr>
            <a:r>
              <a:rPr lang="en-US" dirty="0">
                <a:latin typeface="Times New Roman" panose="02020603050405020304" pitchFamily="18" charset="0"/>
                <a:cs typeface="Times New Roman" panose="02020603050405020304" pitchFamily="18" charset="0"/>
              </a:rPr>
              <a:t>• Integrating billing logic, discounts, and payment options in a console based, structured workflow. While other projects use advanced interfaces or broader data models, this project’s simplicity and focus on stack-based behavior make it ideal for understanding how fundamental data structures can be applied in practical scenarios like e-commerce.</a:t>
            </a:r>
            <a:endParaRPr lang="en-IN" dirty="0">
              <a:latin typeface="Times New Roman" panose="02020603050405020304" pitchFamily="18"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DD48123C-2D9F-9AF9-5FC8-434EC6CE7219}"/>
              </a:ext>
            </a:extLst>
          </p:cNvPr>
          <p:cNvSpPr>
            <a:spLocks noGrp="1"/>
          </p:cNvSpPr>
          <p:nvPr>
            <p:ph type="sldNum" sz="quarter" idx="12"/>
          </p:nvPr>
        </p:nvSpPr>
        <p:spPr/>
        <p:txBody>
          <a:bodyPr/>
          <a:lstStyle/>
          <a:p>
            <a:fld id="{25F51578-6835-4416-9DA3-8DC2171AF31D}" type="slidenum">
              <a:rPr lang="en-IN" smtClean="0"/>
              <a:t>10</a:t>
            </a:fld>
            <a:endParaRPr lang="en-IN"/>
          </a:p>
        </p:txBody>
      </p:sp>
    </p:spTree>
    <p:extLst>
      <p:ext uri="{BB962C8B-B14F-4D97-AF65-F5344CB8AC3E}">
        <p14:creationId xmlns:p14="http://schemas.microsoft.com/office/powerpoint/2010/main" val="11492337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76887-1000-E08C-BCC2-9AF92457A1FB}"/>
              </a:ext>
            </a:extLst>
          </p:cNvPr>
          <p:cNvSpPr>
            <a:spLocks noGrp="1"/>
          </p:cNvSpPr>
          <p:nvPr>
            <p:ph type="title"/>
          </p:nvPr>
        </p:nvSpPr>
        <p:spPr/>
        <p:txBody>
          <a:bodyPr>
            <a:normAutofit/>
          </a:bodyPr>
          <a:lstStyle/>
          <a:p>
            <a:pPr algn="ctr"/>
            <a:r>
              <a:rPr lang="en-IN" b="1" dirty="0">
                <a:latin typeface="Times New Roman" panose="02020603050405020304" pitchFamily="18" charset="0"/>
                <a:cs typeface="Times New Roman" panose="02020603050405020304" pitchFamily="18" charset="0"/>
              </a:rPr>
              <a:t>CHAPTER 3</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 METHODOLOGY</a:t>
            </a:r>
          </a:p>
        </p:txBody>
      </p:sp>
      <p:sp>
        <p:nvSpPr>
          <p:cNvPr id="3" name="Content Placeholder 2">
            <a:extLst>
              <a:ext uri="{FF2B5EF4-FFF2-40B4-BE49-F238E27FC236}">
                <a16:creationId xmlns:a16="http://schemas.microsoft.com/office/drawing/2014/main" id="{58EB3F06-6C98-F340-24C6-2B2360AA4439}"/>
              </a:ext>
            </a:extLst>
          </p:cNvPr>
          <p:cNvSpPr>
            <a:spLocks noGrp="1"/>
          </p:cNvSpPr>
          <p:nvPr>
            <p:ph idx="1"/>
          </p:nvPr>
        </p:nvSpPr>
        <p:spPr>
          <a:xfrm>
            <a:off x="1066800" y="2103120"/>
            <a:ext cx="10058400" cy="4478872"/>
          </a:xfrm>
        </p:spPr>
        <p:txBody>
          <a:bodyPr>
            <a:normAutofit fontScale="55000" lnSpcReduction="20000"/>
          </a:bodyPr>
          <a:lstStyle/>
          <a:p>
            <a:pPr marL="342900" indent="-342900">
              <a:buAutoNum type="arabicPeriod"/>
            </a:pPr>
            <a:r>
              <a:rPr lang="en-US" b="1" dirty="0">
                <a:latin typeface="Times New Roman" panose="02020603050405020304" pitchFamily="18" charset="0"/>
                <a:cs typeface="Times New Roman" panose="02020603050405020304" pitchFamily="18" charset="0"/>
              </a:rPr>
              <a:t>Stack Initialization Algorithm </a:t>
            </a:r>
          </a:p>
          <a:p>
            <a:pPr marL="0" indent="0">
              <a:buNone/>
            </a:pPr>
            <a:r>
              <a:rPr lang="en-US" dirty="0">
                <a:latin typeface="Times New Roman" panose="02020603050405020304" pitchFamily="18" charset="0"/>
                <a:cs typeface="Times New Roman" panose="02020603050405020304" pitchFamily="18" charset="0"/>
              </a:rPr>
              <a:t>• Function: initialize(struct Stack *s) • Purpose: Sets the initial top index of the stack to -1, indicating an empty stack. • Time Complexity: O(1)</a:t>
            </a:r>
          </a:p>
          <a:p>
            <a:pPr marL="0" indent="0">
              <a:buNone/>
            </a:pPr>
            <a:r>
              <a:rPr lang="en-US" b="1" dirty="0">
                <a:latin typeface="Times New Roman" panose="02020603050405020304" pitchFamily="18" charset="0"/>
                <a:cs typeface="Times New Roman" panose="02020603050405020304" pitchFamily="18" charset="0"/>
              </a:rPr>
              <a:t> 2. Push Algorithm (Add Item to Cart) </a:t>
            </a:r>
          </a:p>
          <a:p>
            <a:pPr marL="0" indent="0">
              <a:buNone/>
            </a:pPr>
            <a:r>
              <a:rPr lang="en-US" dirty="0">
                <a:latin typeface="Times New Roman" panose="02020603050405020304" pitchFamily="18" charset="0"/>
                <a:cs typeface="Times New Roman" panose="02020603050405020304" pitchFamily="18" charset="0"/>
              </a:rPr>
              <a:t>• Function: push(struct Stack *s, struct Item item) </a:t>
            </a:r>
          </a:p>
          <a:p>
            <a:pPr marL="0" indent="0">
              <a:buNone/>
            </a:pPr>
            <a:r>
              <a:rPr lang="en-US" b="1" dirty="0">
                <a:latin typeface="Times New Roman" panose="02020603050405020304" pitchFamily="18" charset="0"/>
                <a:cs typeface="Times New Roman" panose="02020603050405020304" pitchFamily="18" charset="0"/>
              </a:rPr>
              <a:t>• Logic: </a:t>
            </a:r>
          </a:p>
          <a:p>
            <a:pPr marL="0" indent="0">
              <a:buNone/>
            </a:pPr>
            <a:r>
              <a:rPr lang="en-US" dirty="0">
                <a:latin typeface="Times New Roman" panose="02020603050405020304" pitchFamily="18" charset="0"/>
                <a:cs typeface="Times New Roman" panose="02020603050405020304" pitchFamily="18" charset="0"/>
              </a:rPr>
              <a:t>o Check if the stack is full (</a:t>
            </a:r>
            <a:r>
              <a:rPr lang="en-US" dirty="0" err="1">
                <a:latin typeface="Times New Roman" panose="02020603050405020304" pitchFamily="18" charset="0"/>
                <a:cs typeface="Times New Roman" panose="02020603050405020304" pitchFamily="18" charset="0"/>
              </a:rPr>
              <a:t>isFull</a:t>
            </a: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o If not, increment the top pointer and insert the new item. </a:t>
            </a:r>
          </a:p>
          <a:p>
            <a:pPr marL="0" indent="0">
              <a:buNone/>
            </a:pPr>
            <a:r>
              <a:rPr lang="en-US" dirty="0">
                <a:latin typeface="Times New Roman" panose="02020603050405020304" pitchFamily="18" charset="0"/>
                <a:cs typeface="Times New Roman" panose="02020603050405020304" pitchFamily="18" charset="0"/>
              </a:rPr>
              <a:t>• Type: Stack Insertion (LIFO) </a:t>
            </a:r>
          </a:p>
          <a:p>
            <a:pPr marL="0" indent="0">
              <a:buNone/>
            </a:pPr>
            <a:r>
              <a:rPr lang="en-US" dirty="0">
                <a:latin typeface="Times New Roman" panose="02020603050405020304" pitchFamily="18" charset="0"/>
                <a:cs typeface="Times New Roman" panose="02020603050405020304" pitchFamily="18" charset="0"/>
              </a:rPr>
              <a:t>• Time Complexity: O(1) </a:t>
            </a:r>
          </a:p>
          <a:p>
            <a:pPr marL="0" indent="0">
              <a:buNone/>
            </a:pPr>
            <a:r>
              <a:rPr lang="en-US" dirty="0">
                <a:latin typeface="Times New Roman" panose="02020603050405020304" pitchFamily="18" charset="0"/>
                <a:cs typeface="Times New Roman" panose="02020603050405020304" pitchFamily="18" charset="0"/>
              </a:rPr>
              <a:t>3. Pop Algorithm (Remove Last Item) </a:t>
            </a:r>
          </a:p>
          <a:p>
            <a:pPr marL="0" indent="0">
              <a:buNone/>
            </a:pPr>
            <a:r>
              <a:rPr lang="en-US" dirty="0">
                <a:latin typeface="Times New Roman" panose="02020603050405020304" pitchFamily="18" charset="0"/>
                <a:cs typeface="Times New Roman" panose="02020603050405020304" pitchFamily="18" charset="0"/>
              </a:rPr>
              <a:t>• Function: pop(struct Stack *s) </a:t>
            </a:r>
          </a:p>
          <a:p>
            <a:pPr marL="0" indent="0">
              <a:buNone/>
            </a:pPr>
            <a:r>
              <a:rPr lang="en-US" b="1" dirty="0">
                <a:latin typeface="Times New Roman" panose="02020603050405020304" pitchFamily="18" charset="0"/>
                <a:cs typeface="Times New Roman" panose="02020603050405020304" pitchFamily="18" charset="0"/>
              </a:rPr>
              <a:t>• Logic: </a:t>
            </a:r>
          </a:p>
          <a:p>
            <a:pPr marL="0" indent="0">
              <a:buNone/>
            </a:pPr>
            <a:r>
              <a:rPr lang="en-US" dirty="0">
                <a:latin typeface="Times New Roman" panose="02020603050405020304" pitchFamily="18" charset="0"/>
                <a:cs typeface="Times New Roman" panose="02020603050405020304" pitchFamily="18" charset="0"/>
              </a:rPr>
              <a:t>o Check if the stack is empty (</a:t>
            </a:r>
            <a:r>
              <a:rPr lang="en-US" dirty="0" err="1">
                <a:latin typeface="Times New Roman" panose="02020603050405020304" pitchFamily="18" charset="0"/>
                <a:cs typeface="Times New Roman" panose="02020603050405020304" pitchFamily="18" charset="0"/>
              </a:rPr>
              <a:t>isEmpty</a:t>
            </a: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o If not, print and remove the item at the top, then decrement top.</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DDD67534-5F00-A4AA-3D72-566AD700313A}"/>
              </a:ext>
            </a:extLst>
          </p:cNvPr>
          <p:cNvSpPr>
            <a:spLocks noGrp="1"/>
          </p:cNvSpPr>
          <p:nvPr>
            <p:ph type="sldNum" sz="quarter" idx="12"/>
          </p:nvPr>
        </p:nvSpPr>
        <p:spPr/>
        <p:txBody>
          <a:bodyPr/>
          <a:lstStyle/>
          <a:p>
            <a:fld id="{25F51578-6835-4416-9DA3-8DC2171AF31D}" type="slidenum">
              <a:rPr lang="en-IN" smtClean="0"/>
              <a:t>11</a:t>
            </a:fld>
            <a:endParaRPr lang="en-IN"/>
          </a:p>
        </p:txBody>
      </p:sp>
    </p:spTree>
    <p:extLst>
      <p:ext uri="{BB962C8B-B14F-4D97-AF65-F5344CB8AC3E}">
        <p14:creationId xmlns:p14="http://schemas.microsoft.com/office/powerpoint/2010/main" val="34453407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35AD38-2DED-3B24-7ADD-C8EC6B8299C8}"/>
              </a:ext>
            </a:extLst>
          </p:cNvPr>
          <p:cNvSpPr>
            <a:spLocks noGrp="1"/>
          </p:cNvSpPr>
          <p:nvPr>
            <p:ph idx="1"/>
          </p:nvPr>
        </p:nvSpPr>
        <p:spPr>
          <a:xfrm>
            <a:off x="1066800" y="336968"/>
            <a:ext cx="10058400" cy="6140032"/>
          </a:xfrm>
        </p:spPr>
        <p:txBody>
          <a:bodyPr>
            <a:normAutofit fontScale="62500" lnSpcReduction="20000"/>
          </a:bodyPr>
          <a:lstStyle/>
          <a:p>
            <a:pPr marL="0" indent="0">
              <a:buNone/>
            </a:pPr>
            <a:r>
              <a:rPr lang="en-US" b="1" dirty="0">
                <a:latin typeface="Times New Roman" panose="02020603050405020304" pitchFamily="18" charset="0"/>
                <a:cs typeface="Times New Roman" panose="02020603050405020304" pitchFamily="18" charset="0"/>
              </a:rPr>
              <a:t>4. Display Cart Algorithm </a:t>
            </a:r>
          </a:p>
          <a:p>
            <a:pPr marL="0" indent="0">
              <a:buNone/>
            </a:pPr>
            <a:r>
              <a:rPr lang="en-US" dirty="0">
                <a:latin typeface="Times New Roman" panose="02020603050405020304" pitchFamily="18" charset="0"/>
                <a:cs typeface="Times New Roman" panose="02020603050405020304" pitchFamily="18" charset="0"/>
              </a:rPr>
              <a:t>• Function: </a:t>
            </a:r>
            <a:r>
              <a:rPr lang="en-US" dirty="0" err="1">
                <a:latin typeface="Times New Roman" panose="02020603050405020304" pitchFamily="18" charset="0"/>
                <a:cs typeface="Times New Roman" panose="02020603050405020304" pitchFamily="18" charset="0"/>
              </a:rPr>
              <a:t>displayCart</a:t>
            </a:r>
            <a:r>
              <a:rPr lang="en-US" dirty="0">
                <a:latin typeface="Times New Roman" panose="02020603050405020304" pitchFamily="18" charset="0"/>
                <a:cs typeface="Times New Roman" panose="02020603050405020304" pitchFamily="18" charset="0"/>
              </a:rPr>
              <a:t>(struct Stack *s) </a:t>
            </a:r>
          </a:p>
          <a:p>
            <a:pPr marL="0" indent="0">
              <a:buNone/>
            </a:pPr>
            <a:r>
              <a:rPr lang="en-US" b="1" dirty="0">
                <a:latin typeface="Times New Roman" panose="02020603050405020304" pitchFamily="18" charset="0"/>
                <a:cs typeface="Times New Roman" panose="02020603050405020304" pitchFamily="18" charset="0"/>
              </a:rPr>
              <a:t>• Logic: </a:t>
            </a:r>
          </a:p>
          <a:p>
            <a:pPr marL="0" indent="0">
              <a:buNone/>
            </a:pPr>
            <a:r>
              <a:rPr lang="en-US" dirty="0">
                <a:latin typeface="Times New Roman" panose="02020603050405020304" pitchFamily="18" charset="0"/>
                <a:cs typeface="Times New Roman" panose="02020603050405020304" pitchFamily="18" charset="0"/>
              </a:rPr>
              <a:t>o Traverse from index 0 to top and compute the total for each item. </a:t>
            </a:r>
          </a:p>
          <a:p>
            <a:pPr marL="0" indent="0">
              <a:buNone/>
            </a:pPr>
            <a:r>
              <a:rPr lang="en-US" dirty="0">
                <a:latin typeface="Times New Roman" panose="02020603050405020304" pitchFamily="18" charset="0"/>
                <a:cs typeface="Times New Roman" panose="02020603050405020304" pitchFamily="18" charset="0"/>
              </a:rPr>
              <a:t>o Display item name, price, quantity, and subtotal. </a:t>
            </a:r>
          </a:p>
          <a:p>
            <a:pPr marL="0" indent="0">
              <a:buNone/>
            </a:pPr>
            <a:r>
              <a:rPr lang="en-US" dirty="0">
                <a:latin typeface="Times New Roman" panose="02020603050405020304" pitchFamily="18" charset="0"/>
                <a:cs typeface="Times New Roman" panose="02020603050405020304" pitchFamily="18" charset="0"/>
              </a:rPr>
              <a:t>• Time Complexity: O(n), where n = number of items in the cart. </a:t>
            </a:r>
          </a:p>
          <a:p>
            <a:pPr marL="0" indent="0">
              <a:buNone/>
            </a:pPr>
            <a:r>
              <a:rPr lang="en-US" b="1" dirty="0">
                <a:latin typeface="Times New Roman" panose="02020603050405020304" pitchFamily="18" charset="0"/>
                <a:cs typeface="Times New Roman" panose="02020603050405020304" pitchFamily="18" charset="0"/>
              </a:rPr>
              <a:t>5. Billing Algorithm </a:t>
            </a:r>
          </a:p>
          <a:p>
            <a:pPr marL="0" indent="0">
              <a:buNone/>
            </a:pPr>
            <a:r>
              <a:rPr lang="en-US" dirty="0">
                <a:latin typeface="Times New Roman" panose="02020603050405020304" pitchFamily="18" charset="0"/>
                <a:cs typeface="Times New Roman" panose="02020603050405020304" pitchFamily="18" charset="0"/>
              </a:rPr>
              <a:t>• Function: </a:t>
            </a:r>
            <a:r>
              <a:rPr lang="en-US" dirty="0" err="1">
                <a:latin typeface="Times New Roman" panose="02020603050405020304" pitchFamily="18" charset="0"/>
                <a:cs typeface="Times New Roman" panose="02020603050405020304" pitchFamily="18" charset="0"/>
              </a:rPr>
              <a:t>generateBillFromCart</a:t>
            </a:r>
            <a:r>
              <a:rPr lang="en-US" dirty="0">
                <a:latin typeface="Times New Roman" panose="02020603050405020304" pitchFamily="18" charset="0"/>
                <a:cs typeface="Times New Roman" panose="02020603050405020304" pitchFamily="18" charset="0"/>
              </a:rPr>
              <a:t>(struct Stack *s) </a:t>
            </a:r>
          </a:p>
          <a:p>
            <a:pPr marL="0" indent="0">
              <a:buNone/>
            </a:pPr>
            <a:r>
              <a:rPr lang="en-US" dirty="0">
                <a:latin typeface="Times New Roman" panose="02020603050405020304" pitchFamily="18" charset="0"/>
                <a:cs typeface="Times New Roman" panose="02020603050405020304" pitchFamily="18" charset="0"/>
              </a:rPr>
              <a:t>• Logic: o Traverses the stack to compute subtotal, discount (10% if amount &gt; ₹1000), carry bag charge, delivery charge, and GST (18%). </a:t>
            </a:r>
          </a:p>
          <a:p>
            <a:pPr marL="0" indent="0">
              <a:buNone/>
            </a:pPr>
            <a:r>
              <a:rPr lang="en-US" dirty="0">
                <a:latin typeface="Times New Roman" panose="02020603050405020304" pitchFamily="18" charset="0"/>
                <a:cs typeface="Times New Roman" panose="02020603050405020304" pitchFamily="18" charset="0"/>
              </a:rPr>
              <a:t>o Collects customer details and payment method. </a:t>
            </a:r>
          </a:p>
          <a:p>
            <a:pPr marL="0" indent="0">
              <a:buNone/>
            </a:pPr>
            <a:r>
              <a:rPr lang="en-US" dirty="0">
                <a:latin typeface="Times New Roman" panose="02020603050405020304" pitchFamily="18" charset="0"/>
                <a:cs typeface="Times New Roman" panose="02020603050405020304" pitchFamily="18" charset="0"/>
              </a:rPr>
              <a:t>• Time Complexity: O(n)</a:t>
            </a:r>
          </a:p>
          <a:p>
            <a:pPr marL="0" indent="0">
              <a:buNone/>
            </a:pPr>
            <a:r>
              <a:rPr lang="en-US" b="1" dirty="0">
                <a:latin typeface="Times New Roman" panose="02020603050405020304" pitchFamily="18" charset="0"/>
                <a:cs typeface="Times New Roman" panose="02020603050405020304" pitchFamily="18" charset="0"/>
              </a:rPr>
              <a:t> 6. Customer Details Display Algorithm </a:t>
            </a:r>
          </a:p>
          <a:p>
            <a:pPr marL="0" indent="0">
              <a:buNone/>
            </a:pPr>
            <a:r>
              <a:rPr lang="en-US" dirty="0">
                <a:latin typeface="Times New Roman" panose="02020603050405020304" pitchFamily="18" charset="0"/>
                <a:cs typeface="Times New Roman" panose="02020603050405020304" pitchFamily="18" charset="0"/>
              </a:rPr>
              <a:t>• Function: </a:t>
            </a:r>
            <a:r>
              <a:rPr lang="en-US" dirty="0" err="1">
                <a:latin typeface="Times New Roman" panose="02020603050405020304" pitchFamily="18" charset="0"/>
                <a:cs typeface="Times New Roman" panose="02020603050405020304" pitchFamily="18" charset="0"/>
              </a:rPr>
              <a:t>displayCustomerDetails</a:t>
            </a: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 Logic: o Iterates over a static array of 10 customers to print their information. </a:t>
            </a:r>
          </a:p>
          <a:p>
            <a:pPr marL="0" indent="0">
              <a:buNone/>
            </a:pPr>
            <a:r>
              <a:rPr lang="en-US" dirty="0">
                <a:latin typeface="Times New Roman" panose="02020603050405020304" pitchFamily="18" charset="0"/>
                <a:cs typeface="Times New Roman" panose="02020603050405020304" pitchFamily="18" charset="0"/>
              </a:rPr>
              <a:t>• Time Complexity: O(1), since the array size is constant. </a:t>
            </a:r>
          </a:p>
          <a:p>
            <a:pPr marL="0" indent="0">
              <a:buNone/>
            </a:pPr>
            <a:r>
              <a:rPr lang="en-US" b="1" dirty="0">
                <a:latin typeface="Times New Roman" panose="02020603050405020304" pitchFamily="18" charset="0"/>
                <a:cs typeface="Times New Roman" panose="02020603050405020304" pitchFamily="18" charset="0"/>
              </a:rPr>
              <a:t>7. Discount Display Algorithm </a:t>
            </a:r>
          </a:p>
          <a:p>
            <a:pPr marL="0" indent="0">
              <a:buNone/>
            </a:pPr>
            <a:r>
              <a:rPr lang="en-US" dirty="0">
                <a:latin typeface="Times New Roman" panose="02020603050405020304" pitchFamily="18" charset="0"/>
                <a:cs typeface="Times New Roman" panose="02020603050405020304" pitchFamily="18" charset="0"/>
              </a:rPr>
              <a:t>• Function: </a:t>
            </a:r>
            <a:r>
              <a:rPr lang="en-US" dirty="0" err="1">
                <a:latin typeface="Times New Roman" panose="02020603050405020304" pitchFamily="18" charset="0"/>
                <a:cs typeface="Times New Roman" panose="02020603050405020304" pitchFamily="18" charset="0"/>
              </a:rPr>
              <a:t>displayDiscounts</a:t>
            </a: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 Logic: o Traverses a static array of 50 items and displays each with its original and 10% discounted price. • Time Complexity: O(n), where n = number of items (50). </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98AB93A-BC05-81B7-5040-322A1530B622}"/>
              </a:ext>
            </a:extLst>
          </p:cNvPr>
          <p:cNvSpPr>
            <a:spLocks noGrp="1"/>
          </p:cNvSpPr>
          <p:nvPr>
            <p:ph type="sldNum" sz="quarter" idx="12"/>
          </p:nvPr>
        </p:nvSpPr>
        <p:spPr/>
        <p:txBody>
          <a:bodyPr/>
          <a:lstStyle/>
          <a:p>
            <a:fld id="{25F51578-6835-4416-9DA3-8DC2171AF31D}" type="slidenum">
              <a:rPr lang="en-IN" smtClean="0"/>
              <a:t>12</a:t>
            </a:fld>
            <a:endParaRPr lang="en-IN"/>
          </a:p>
        </p:txBody>
      </p:sp>
    </p:spTree>
    <p:extLst>
      <p:ext uri="{BB962C8B-B14F-4D97-AF65-F5344CB8AC3E}">
        <p14:creationId xmlns:p14="http://schemas.microsoft.com/office/powerpoint/2010/main" val="38618863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02D9CD-A309-512E-CEB4-8B6FF3ECC74A}"/>
              </a:ext>
            </a:extLst>
          </p:cNvPr>
          <p:cNvSpPr>
            <a:spLocks noGrp="1"/>
          </p:cNvSpPr>
          <p:nvPr>
            <p:ph idx="1"/>
          </p:nvPr>
        </p:nvSpPr>
        <p:spPr>
          <a:xfrm>
            <a:off x="1066800" y="396240"/>
            <a:ext cx="10058400" cy="6050280"/>
          </a:xfrm>
        </p:spPr>
        <p:txBody>
          <a:bodyPr>
            <a:normAutofit fontScale="55000" lnSpcReduction="20000"/>
          </a:bodyPr>
          <a:lstStyle/>
          <a:p>
            <a:pPr marL="0" indent="0">
              <a:buNone/>
            </a:pPr>
            <a:r>
              <a:rPr lang="en-US" b="1" dirty="0">
                <a:latin typeface="Times New Roman" panose="02020603050405020304" pitchFamily="18" charset="0"/>
                <a:cs typeface="Times New Roman" panose="02020603050405020304" pitchFamily="18" charset="0"/>
              </a:rPr>
              <a:t>3.2 Data Structures Implemented :-</a:t>
            </a:r>
          </a:p>
          <a:p>
            <a:pPr marL="0" indent="0">
              <a:buNone/>
            </a:pPr>
            <a:r>
              <a:rPr lang="en-US" dirty="0">
                <a:latin typeface="Times New Roman" panose="02020603050405020304" pitchFamily="18" charset="0"/>
                <a:cs typeface="Times New Roman" panose="02020603050405020304" pitchFamily="18" charset="0"/>
              </a:rPr>
              <a:t> 1. Add item to cart </a:t>
            </a:r>
          </a:p>
          <a:p>
            <a:pPr marL="0" indent="0">
              <a:buNone/>
            </a:pPr>
            <a:r>
              <a:rPr lang="en-US" dirty="0">
                <a:latin typeface="Times New Roman" panose="02020603050405020304" pitchFamily="18" charset="0"/>
                <a:cs typeface="Times New Roman" panose="02020603050405020304" pitchFamily="18" charset="0"/>
              </a:rPr>
              <a:t>• Algorithm: Stack Push </a:t>
            </a:r>
          </a:p>
          <a:p>
            <a:pPr marL="0" indent="0">
              <a:buNone/>
            </a:pPr>
            <a:r>
              <a:rPr lang="en-US" dirty="0">
                <a:latin typeface="Times New Roman" panose="02020603050405020304" pitchFamily="18" charset="0"/>
                <a:cs typeface="Times New Roman" panose="02020603050405020304" pitchFamily="18" charset="0"/>
              </a:rPr>
              <a:t>• Time Complexity: O(1) </a:t>
            </a:r>
          </a:p>
          <a:p>
            <a:pPr marL="0" indent="0">
              <a:buNone/>
            </a:pPr>
            <a:r>
              <a:rPr lang="en-US" dirty="0">
                <a:latin typeface="Times New Roman" panose="02020603050405020304" pitchFamily="18" charset="0"/>
                <a:cs typeface="Times New Roman" panose="02020603050405020304" pitchFamily="18" charset="0"/>
              </a:rPr>
              <a:t>• Data Structure: Stack </a:t>
            </a:r>
          </a:p>
          <a:p>
            <a:pPr marL="0" indent="0">
              <a:buNone/>
            </a:pPr>
            <a:r>
              <a:rPr lang="en-US" dirty="0">
                <a:latin typeface="Times New Roman" panose="02020603050405020304" pitchFamily="18" charset="0"/>
                <a:cs typeface="Times New Roman" panose="02020603050405020304" pitchFamily="18" charset="0"/>
              </a:rPr>
              <a:t>• This operation uses the push mechanism to add an item to the top of the cart stack efficiently. </a:t>
            </a:r>
          </a:p>
          <a:p>
            <a:pPr marL="0" indent="0">
              <a:buNone/>
            </a:pPr>
            <a:r>
              <a:rPr lang="en-US" b="1" dirty="0">
                <a:latin typeface="Times New Roman" panose="02020603050405020304" pitchFamily="18" charset="0"/>
                <a:cs typeface="Times New Roman" panose="02020603050405020304" pitchFamily="18" charset="0"/>
              </a:rPr>
              <a:t>2. Remove last item </a:t>
            </a:r>
          </a:p>
          <a:p>
            <a:pPr marL="0" indent="0">
              <a:buNone/>
            </a:pPr>
            <a:r>
              <a:rPr lang="en-US" dirty="0">
                <a:latin typeface="Times New Roman" panose="02020603050405020304" pitchFamily="18" charset="0"/>
                <a:cs typeface="Times New Roman" panose="02020603050405020304" pitchFamily="18" charset="0"/>
              </a:rPr>
              <a:t>• Algorithm: Stack Pop </a:t>
            </a:r>
          </a:p>
          <a:p>
            <a:pPr marL="0" indent="0">
              <a:buNone/>
            </a:pPr>
            <a:r>
              <a:rPr lang="en-US" dirty="0">
                <a:latin typeface="Times New Roman" panose="02020603050405020304" pitchFamily="18" charset="0"/>
                <a:cs typeface="Times New Roman" panose="02020603050405020304" pitchFamily="18" charset="0"/>
              </a:rPr>
              <a:t>• Time Complexity: O(1) </a:t>
            </a:r>
          </a:p>
          <a:p>
            <a:pPr marL="0" indent="0">
              <a:buNone/>
            </a:pPr>
            <a:r>
              <a:rPr lang="en-US" dirty="0">
                <a:latin typeface="Times New Roman" panose="02020603050405020304" pitchFamily="18" charset="0"/>
                <a:cs typeface="Times New Roman" panose="02020603050405020304" pitchFamily="18" charset="0"/>
              </a:rPr>
              <a:t>• Data Structure: Stack </a:t>
            </a:r>
          </a:p>
          <a:p>
            <a:pPr marL="0" indent="0">
              <a:buNone/>
            </a:pPr>
            <a:r>
              <a:rPr lang="en-US" dirty="0">
                <a:latin typeface="Times New Roman" panose="02020603050405020304" pitchFamily="18" charset="0"/>
                <a:cs typeface="Times New Roman" panose="02020603050405020304" pitchFamily="18" charset="0"/>
              </a:rPr>
              <a:t>• Removes the most recently added item using pop, which maintains the Last-In-First-Out (LIFO) behavior.</a:t>
            </a:r>
          </a:p>
          <a:p>
            <a:pPr marL="0" indent="0">
              <a:buNone/>
            </a:pPr>
            <a:r>
              <a:rPr lang="en-US" b="1" dirty="0">
                <a:latin typeface="Times New Roman" panose="02020603050405020304" pitchFamily="18" charset="0"/>
                <a:cs typeface="Times New Roman" panose="02020603050405020304" pitchFamily="18" charset="0"/>
              </a:rPr>
              <a:t> 3. View cart </a:t>
            </a:r>
          </a:p>
          <a:p>
            <a:pPr marL="0" indent="0">
              <a:buNone/>
            </a:pPr>
            <a:r>
              <a:rPr lang="en-US" dirty="0">
                <a:latin typeface="Times New Roman" panose="02020603050405020304" pitchFamily="18" charset="0"/>
                <a:cs typeface="Times New Roman" panose="02020603050405020304" pitchFamily="18" charset="0"/>
              </a:rPr>
              <a:t>• Algorithm: Linear Traversal </a:t>
            </a:r>
          </a:p>
          <a:p>
            <a:pPr marL="0" indent="0">
              <a:buNone/>
            </a:pPr>
            <a:r>
              <a:rPr lang="en-US" dirty="0">
                <a:latin typeface="Times New Roman" panose="02020603050405020304" pitchFamily="18" charset="0"/>
                <a:cs typeface="Times New Roman" panose="02020603050405020304" pitchFamily="18" charset="0"/>
              </a:rPr>
              <a:t>• Time Complexity: O(n)</a:t>
            </a:r>
          </a:p>
          <a:p>
            <a:pPr marL="0" indent="0">
              <a:buNone/>
            </a:pPr>
            <a:r>
              <a:rPr lang="en-US" dirty="0">
                <a:latin typeface="Times New Roman" panose="02020603050405020304" pitchFamily="18" charset="0"/>
                <a:cs typeface="Times New Roman" panose="02020603050405020304" pitchFamily="18" charset="0"/>
              </a:rPr>
              <a:t> • Data Structure: Stack </a:t>
            </a:r>
          </a:p>
          <a:p>
            <a:pPr marL="0" indent="0">
              <a:buNone/>
            </a:pPr>
            <a:r>
              <a:rPr lang="en-US" dirty="0">
                <a:latin typeface="Times New Roman" panose="02020603050405020304" pitchFamily="18" charset="0"/>
                <a:cs typeface="Times New Roman" panose="02020603050405020304" pitchFamily="18" charset="0"/>
              </a:rPr>
              <a:t>• Traverses the stack to display all current cart items. </a:t>
            </a:r>
          </a:p>
          <a:p>
            <a:pPr marL="0" indent="0">
              <a:buNone/>
            </a:pPr>
            <a:r>
              <a:rPr lang="en-US" b="1" dirty="0">
                <a:latin typeface="Times New Roman" panose="02020603050405020304" pitchFamily="18" charset="0"/>
                <a:cs typeface="Times New Roman" panose="02020603050405020304" pitchFamily="18" charset="0"/>
              </a:rPr>
              <a:t>4. Generate bill</a:t>
            </a:r>
          </a:p>
          <a:p>
            <a:pPr marL="0" indent="0">
              <a:buNone/>
            </a:pPr>
            <a:r>
              <a:rPr lang="en-US" dirty="0">
                <a:latin typeface="Times New Roman" panose="02020603050405020304" pitchFamily="18" charset="0"/>
                <a:cs typeface="Times New Roman" panose="02020603050405020304" pitchFamily="18" charset="0"/>
              </a:rPr>
              <a:t> • Algorithm: Aggregation + Stack </a:t>
            </a:r>
          </a:p>
          <a:p>
            <a:pPr marL="0" indent="0">
              <a:buNone/>
            </a:pPr>
            <a:r>
              <a:rPr lang="en-US" dirty="0">
                <a:latin typeface="Times New Roman" panose="02020603050405020304" pitchFamily="18" charset="0"/>
                <a:cs typeface="Times New Roman" panose="02020603050405020304" pitchFamily="18" charset="0"/>
              </a:rPr>
              <a:t>• Time Complexity: O(n) </a:t>
            </a:r>
          </a:p>
          <a:p>
            <a:pPr marL="0" indent="0">
              <a:buNone/>
            </a:pPr>
            <a:r>
              <a:rPr lang="en-US" dirty="0">
                <a:latin typeface="Times New Roman" panose="02020603050405020304" pitchFamily="18" charset="0"/>
                <a:cs typeface="Times New Roman" panose="02020603050405020304" pitchFamily="18" charset="0"/>
              </a:rPr>
              <a:t>• Data Structure: Stack </a:t>
            </a:r>
          </a:p>
          <a:p>
            <a:pPr marL="0" indent="0">
              <a:buNone/>
            </a:pPr>
            <a:r>
              <a:rPr lang="en-US" dirty="0">
                <a:latin typeface="Times New Roman" panose="02020603050405020304" pitchFamily="18" charset="0"/>
                <a:cs typeface="Times New Roman" panose="02020603050405020304" pitchFamily="18" charset="0"/>
              </a:rPr>
              <a:t>• Summarizes the cart content and totals the bill using a stack traversal. </a:t>
            </a:r>
          </a:p>
        </p:txBody>
      </p:sp>
      <p:sp>
        <p:nvSpPr>
          <p:cNvPr id="4" name="Slide Number Placeholder 3">
            <a:extLst>
              <a:ext uri="{FF2B5EF4-FFF2-40B4-BE49-F238E27FC236}">
                <a16:creationId xmlns:a16="http://schemas.microsoft.com/office/drawing/2014/main" id="{93DE1A6A-E9F9-BF1D-0128-2BF7F9E46E8A}"/>
              </a:ext>
            </a:extLst>
          </p:cNvPr>
          <p:cNvSpPr>
            <a:spLocks noGrp="1"/>
          </p:cNvSpPr>
          <p:nvPr>
            <p:ph type="sldNum" sz="quarter" idx="12"/>
          </p:nvPr>
        </p:nvSpPr>
        <p:spPr/>
        <p:txBody>
          <a:bodyPr/>
          <a:lstStyle/>
          <a:p>
            <a:fld id="{25F51578-6835-4416-9DA3-8DC2171AF31D}" type="slidenum">
              <a:rPr lang="en-IN" smtClean="0"/>
              <a:t>13</a:t>
            </a:fld>
            <a:endParaRPr lang="en-IN"/>
          </a:p>
        </p:txBody>
      </p:sp>
    </p:spTree>
    <p:extLst>
      <p:ext uri="{BB962C8B-B14F-4D97-AF65-F5344CB8AC3E}">
        <p14:creationId xmlns:p14="http://schemas.microsoft.com/office/powerpoint/2010/main" val="41344963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A8E026-7ECB-A303-130D-A72C9FEF7BD5}"/>
              </a:ext>
            </a:extLst>
          </p:cNvPr>
          <p:cNvSpPr>
            <a:spLocks noGrp="1"/>
          </p:cNvSpPr>
          <p:nvPr>
            <p:ph idx="1"/>
          </p:nvPr>
        </p:nvSpPr>
        <p:spPr>
          <a:xfrm>
            <a:off x="1066800" y="487680"/>
            <a:ext cx="10058400" cy="5547360"/>
          </a:xfrm>
        </p:spPr>
        <p:txBody>
          <a:bodyPr>
            <a:normAutofit lnSpcReduction="10000"/>
          </a:bodyPr>
          <a:lstStyle/>
          <a:p>
            <a:pPr marL="0" indent="0">
              <a:buNone/>
            </a:pPr>
            <a:r>
              <a:rPr lang="en-US" b="1" dirty="0">
                <a:latin typeface="Times New Roman" panose="02020603050405020304" pitchFamily="18" charset="0"/>
                <a:cs typeface="Times New Roman" panose="02020603050405020304" pitchFamily="18" charset="0"/>
              </a:rPr>
              <a:t>5. Display discounts </a:t>
            </a:r>
          </a:p>
          <a:p>
            <a:pPr marL="0" indent="0">
              <a:buNone/>
            </a:pPr>
            <a:r>
              <a:rPr lang="en-US" dirty="0">
                <a:latin typeface="Times New Roman" panose="02020603050405020304" pitchFamily="18" charset="0"/>
                <a:cs typeface="Times New Roman" panose="02020603050405020304" pitchFamily="18" charset="0"/>
              </a:rPr>
              <a:t>• Algorithm: Linear Traversal</a:t>
            </a:r>
          </a:p>
          <a:p>
            <a:pPr marL="0" indent="0">
              <a:buNone/>
            </a:pPr>
            <a:r>
              <a:rPr lang="en-US" dirty="0">
                <a:latin typeface="Times New Roman" panose="02020603050405020304" pitchFamily="18" charset="0"/>
                <a:cs typeface="Times New Roman" panose="02020603050405020304" pitchFamily="18" charset="0"/>
              </a:rPr>
              <a:t> • Time Complexity: O(n) </a:t>
            </a:r>
          </a:p>
          <a:p>
            <a:pPr marL="0" indent="0">
              <a:buNone/>
            </a:pPr>
            <a:r>
              <a:rPr lang="en-US" dirty="0">
                <a:latin typeface="Times New Roman" panose="02020603050405020304" pitchFamily="18" charset="0"/>
                <a:cs typeface="Times New Roman" panose="02020603050405020304" pitchFamily="18" charset="0"/>
              </a:rPr>
              <a:t>• Data Structure: Array </a:t>
            </a:r>
          </a:p>
          <a:p>
            <a:pPr marL="0" indent="0">
              <a:buNone/>
            </a:pPr>
            <a:r>
              <a:rPr lang="en-US" dirty="0">
                <a:latin typeface="Times New Roman" panose="02020603050405020304" pitchFamily="18" charset="0"/>
                <a:cs typeface="Times New Roman" panose="02020603050405020304" pitchFamily="18" charset="0"/>
              </a:rPr>
              <a:t>• Discounts are displayed by scanning through a predefined array of offers or thresholds. </a:t>
            </a:r>
          </a:p>
          <a:p>
            <a:pPr marL="0" indent="0">
              <a:buNone/>
            </a:pPr>
            <a:r>
              <a:rPr lang="en-US" b="1" dirty="0">
                <a:latin typeface="Times New Roman" panose="02020603050405020304" pitchFamily="18" charset="0"/>
                <a:cs typeface="Times New Roman" panose="02020603050405020304" pitchFamily="18" charset="0"/>
              </a:rPr>
              <a:t>6. View customer details </a:t>
            </a:r>
          </a:p>
          <a:p>
            <a:pPr marL="0" indent="0">
              <a:buNone/>
            </a:pPr>
            <a:r>
              <a:rPr lang="en-US" dirty="0">
                <a:latin typeface="Times New Roman" panose="02020603050405020304" pitchFamily="18" charset="0"/>
                <a:cs typeface="Times New Roman" panose="02020603050405020304" pitchFamily="18" charset="0"/>
              </a:rPr>
              <a:t>• Algorithm: Static Array Loop </a:t>
            </a:r>
          </a:p>
          <a:p>
            <a:pPr marL="0" indent="0">
              <a:buNone/>
            </a:pPr>
            <a:r>
              <a:rPr lang="en-US" dirty="0">
                <a:latin typeface="Times New Roman" panose="02020603050405020304" pitchFamily="18" charset="0"/>
                <a:cs typeface="Times New Roman" panose="02020603050405020304" pitchFamily="18" charset="0"/>
              </a:rPr>
              <a:t>• Time Complexity: O(1) </a:t>
            </a:r>
          </a:p>
          <a:p>
            <a:pPr marL="0" indent="0">
              <a:buNone/>
            </a:pPr>
            <a:r>
              <a:rPr lang="en-US" dirty="0">
                <a:latin typeface="Times New Roman" panose="02020603050405020304" pitchFamily="18" charset="0"/>
                <a:cs typeface="Times New Roman" panose="02020603050405020304" pitchFamily="18" charset="0"/>
              </a:rPr>
              <a:t>• Data Structure: Array </a:t>
            </a:r>
          </a:p>
          <a:p>
            <a:pPr marL="0" indent="0">
              <a:buNone/>
            </a:pPr>
            <a:r>
              <a:rPr lang="en-US" dirty="0">
                <a:latin typeface="Times New Roman" panose="02020603050405020304" pitchFamily="18" charset="0"/>
                <a:cs typeface="Times New Roman" panose="02020603050405020304" pitchFamily="18" charset="0"/>
              </a:rPr>
              <a:t>• Uses index-based access for customer data, offering constant time retrieval.</a:t>
            </a:r>
            <a:endParaRPr lang="en-IN"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4" name="Slide Number Placeholder 3">
            <a:extLst>
              <a:ext uri="{FF2B5EF4-FFF2-40B4-BE49-F238E27FC236}">
                <a16:creationId xmlns:a16="http://schemas.microsoft.com/office/drawing/2014/main" id="{23250250-71C3-1D2F-5F17-64821448F34C}"/>
              </a:ext>
            </a:extLst>
          </p:cNvPr>
          <p:cNvSpPr>
            <a:spLocks noGrp="1"/>
          </p:cNvSpPr>
          <p:nvPr>
            <p:ph type="sldNum" sz="quarter" idx="12"/>
          </p:nvPr>
        </p:nvSpPr>
        <p:spPr/>
        <p:txBody>
          <a:bodyPr/>
          <a:lstStyle/>
          <a:p>
            <a:fld id="{25F51578-6835-4416-9DA3-8DC2171AF31D}" type="slidenum">
              <a:rPr lang="en-IN" smtClean="0"/>
              <a:t>14</a:t>
            </a:fld>
            <a:endParaRPr lang="en-IN"/>
          </a:p>
        </p:txBody>
      </p:sp>
    </p:spTree>
    <p:extLst>
      <p:ext uri="{BB962C8B-B14F-4D97-AF65-F5344CB8AC3E}">
        <p14:creationId xmlns:p14="http://schemas.microsoft.com/office/powerpoint/2010/main" val="29132776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FADC20-78B2-59C6-41DF-DA07A90B0F3B}"/>
              </a:ext>
            </a:extLst>
          </p:cNvPr>
          <p:cNvSpPr>
            <a:spLocks noGrp="1"/>
          </p:cNvSpPr>
          <p:nvPr>
            <p:ph idx="1"/>
          </p:nvPr>
        </p:nvSpPr>
        <p:spPr>
          <a:xfrm>
            <a:off x="1066800" y="472440"/>
            <a:ext cx="10058400" cy="5562600"/>
          </a:xfrm>
        </p:spPr>
        <p:txBody>
          <a:bodyPr>
            <a:normAutofit fontScale="85000" lnSpcReduction="20000"/>
          </a:bodyPr>
          <a:lstStyle/>
          <a:p>
            <a:pPr marL="0" indent="0">
              <a:buNone/>
            </a:pPr>
            <a:r>
              <a:rPr lang="en-IN" b="1" dirty="0">
                <a:latin typeface="Times New Roman" panose="02020603050405020304" pitchFamily="18" charset="0"/>
                <a:cs typeface="Times New Roman" panose="02020603050405020304" pitchFamily="18" charset="0"/>
              </a:rPr>
              <a:t>3.3 Flowcharts / Pseudocode:- </a:t>
            </a:r>
          </a:p>
          <a:p>
            <a:pPr marL="0" indent="0">
              <a:buNone/>
            </a:pPr>
            <a:r>
              <a:rPr lang="en-IN" b="1" dirty="0">
                <a:latin typeface="Times New Roman" panose="02020603050405020304" pitchFamily="18" charset="0"/>
                <a:cs typeface="Times New Roman" panose="02020603050405020304" pitchFamily="18" charset="0"/>
              </a:rPr>
              <a:t>Pseudocode: E-commerce Shopping Cart System </a:t>
            </a:r>
          </a:p>
          <a:p>
            <a:pPr marL="0" indent="0">
              <a:buNone/>
            </a:pPr>
            <a:r>
              <a:rPr lang="en-IN" dirty="0">
                <a:latin typeface="Times New Roman" panose="02020603050405020304" pitchFamily="18" charset="0"/>
                <a:cs typeface="Times New Roman" panose="02020603050405020304" pitchFamily="18" charset="0"/>
              </a:rPr>
              <a:t>Start</a:t>
            </a:r>
          </a:p>
          <a:p>
            <a:pPr marL="0" indent="0">
              <a:buNone/>
            </a:pPr>
            <a:r>
              <a:rPr lang="en-IN" dirty="0">
                <a:latin typeface="Times New Roman" panose="02020603050405020304" pitchFamily="18" charset="0"/>
                <a:cs typeface="Times New Roman" panose="02020603050405020304" pitchFamily="18" charset="0"/>
              </a:rPr>
              <a:t> Declare cart as Stack</a:t>
            </a:r>
          </a:p>
          <a:p>
            <a:pPr marL="0" indent="0">
              <a:buNone/>
            </a:pPr>
            <a:r>
              <a:rPr lang="en-IN" dirty="0">
                <a:latin typeface="Times New Roman" panose="02020603050405020304" pitchFamily="18" charset="0"/>
                <a:cs typeface="Times New Roman" panose="02020603050405020304" pitchFamily="18" charset="0"/>
              </a:rPr>
              <a:t> Declare </a:t>
            </a:r>
            <a:r>
              <a:rPr lang="en-IN" dirty="0" err="1">
                <a:latin typeface="Times New Roman" panose="02020603050405020304" pitchFamily="18" charset="0"/>
                <a:cs typeface="Times New Roman" panose="02020603050405020304" pitchFamily="18" charset="0"/>
              </a:rPr>
              <a:t>wishlist</a:t>
            </a:r>
            <a:r>
              <a:rPr lang="en-IN" dirty="0">
                <a:latin typeface="Times New Roman" panose="02020603050405020304" pitchFamily="18" charset="0"/>
                <a:cs typeface="Times New Roman" panose="02020603050405020304" pitchFamily="18" charset="0"/>
              </a:rPr>
              <a:t> as List </a:t>
            </a:r>
          </a:p>
          <a:p>
            <a:pPr marL="0" indent="0">
              <a:buNone/>
            </a:pPr>
            <a:r>
              <a:rPr lang="en-IN" dirty="0">
                <a:latin typeface="Times New Roman" panose="02020603050405020304" pitchFamily="18" charset="0"/>
                <a:cs typeface="Times New Roman" panose="02020603050405020304" pitchFamily="18" charset="0"/>
              </a:rPr>
              <a:t>Declare item as structure with fields: name, price, quantity </a:t>
            </a:r>
          </a:p>
          <a:p>
            <a:pPr marL="0" indent="0">
              <a:buNone/>
            </a:pPr>
            <a:r>
              <a:rPr lang="en-IN" dirty="0">
                <a:latin typeface="Times New Roman" panose="02020603050405020304" pitchFamily="18" charset="0"/>
                <a:cs typeface="Times New Roman" panose="02020603050405020304" pitchFamily="18" charset="0"/>
              </a:rPr>
              <a:t>Initialize(cart) </a:t>
            </a:r>
          </a:p>
          <a:p>
            <a:pPr marL="0" indent="0">
              <a:buNone/>
            </a:pPr>
            <a:r>
              <a:rPr lang="en-IN" dirty="0">
                <a:latin typeface="Times New Roman" panose="02020603050405020304" pitchFamily="18" charset="0"/>
                <a:cs typeface="Times New Roman" panose="02020603050405020304" pitchFamily="18" charset="0"/>
              </a:rPr>
              <a:t>Initialize(</a:t>
            </a:r>
            <a:r>
              <a:rPr lang="en-IN" dirty="0" err="1">
                <a:latin typeface="Times New Roman" panose="02020603050405020304" pitchFamily="18" charset="0"/>
                <a:cs typeface="Times New Roman" panose="02020603050405020304" pitchFamily="18" charset="0"/>
              </a:rPr>
              <a:t>wishlist</a:t>
            </a:r>
            <a:r>
              <a:rPr lang="en-IN" dirty="0">
                <a:latin typeface="Times New Roman" panose="02020603050405020304" pitchFamily="18" charset="0"/>
                <a:cs typeface="Times New Roman" panose="02020603050405020304" pitchFamily="18" charset="0"/>
              </a:rPr>
              <a:t>) </a:t>
            </a:r>
          </a:p>
          <a:p>
            <a:pPr marL="0" indent="0">
              <a:buNone/>
            </a:pPr>
            <a:r>
              <a:rPr lang="en-IN" dirty="0">
                <a:latin typeface="Times New Roman" panose="02020603050405020304" pitchFamily="18" charset="0"/>
                <a:cs typeface="Times New Roman" panose="02020603050405020304" pitchFamily="18" charset="0"/>
              </a:rPr>
              <a:t>Repeat Display Menu:</a:t>
            </a:r>
          </a:p>
          <a:p>
            <a:pPr marL="0" indent="0">
              <a:buNone/>
            </a:pPr>
            <a:r>
              <a:rPr lang="en-IN" dirty="0">
                <a:latin typeface="Times New Roman" panose="02020603050405020304" pitchFamily="18" charset="0"/>
                <a:cs typeface="Times New Roman" panose="02020603050405020304" pitchFamily="18" charset="0"/>
              </a:rPr>
              <a:t> 1. Display discounts</a:t>
            </a:r>
          </a:p>
          <a:p>
            <a:pPr marL="0" indent="0">
              <a:buNone/>
            </a:pPr>
            <a:r>
              <a:rPr lang="en-IN" dirty="0">
                <a:latin typeface="Times New Roman" panose="02020603050405020304" pitchFamily="18" charset="0"/>
                <a:cs typeface="Times New Roman" panose="02020603050405020304" pitchFamily="18" charset="0"/>
              </a:rPr>
              <a:t> 2. Add item(s) to cart </a:t>
            </a:r>
          </a:p>
          <a:p>
            <a:pPr marL="0" indent="0">
              <a:buNone/>
            </a:pPr>
            <a:r>
              <a:rPr lang="en-IN" dirty="0">
                <a:latin typeface="Times New Roman" panose="02020603050405020304" pitchFamily="18" charset="0"/>
                <a:cs typeface="Times New Roman" panose="02020603050405020304" pitchFamily="18" charset="0"/>
              </a:rPr>
              <a:t>3. View cart </a:t>
            </a:r>
          </a:p>
          <a:p>
            <a:pPr marL="0" indent="0">
              <a:buNone/>
            </a:pPr>
            <a:r>
              <a:rPr lang="en-IN" dirty="0">
                <a:latin typeface="Times New Roman" panose="02020603050405020304" pitchFamily="18" charset="0"/>
                <a:cs typeface="Times New Roman" panose="02020603050405020304" pitchFamily="18" charset="0"/>
              </a:rPr>
              <a:t>4. Remove last item from cart </a:t>
            </a:r>
          </a:p>
          <a:p>
            <a:pPr marL="0" indent="0">
              <a:buNone/>
            </a:pPr>
            <a:r>
              <a:rPr lang="en-IN" dirty="0">
                <a:latin typeface="Times New Roman" panose="02020603050405020304" pitchFamily="18" charset="0"/>
                <a:cs typeface="Times New Roman" panose="02020603050405020304" pitchFamily="18" charset="0"/>
              </a:rPr>
              <a:t>5. View cart (again) </a:t>
            </a:r>
          </a:p>
        </p:txBody>
      </p:sp>
      <p:sp>
        <p:nvSpPr>
          <p:cNvPr id="4" name="Slide Number Placeholder 3">
            <a:extLst>
              <a:ext uri="{FF2B5EF4-FFF2-40B4-BE49-F238E27FC236}">
                <a16:creationId xmlns:a16="http://schemas.microsoft.com/office/drawing/2014/main" id="{921CB7D8-BDC1-DA90-5D2D-DAABEC2C2A83}"/>
              </a:ext>
            </a:extLst>
          </p:cNvPr>
          <p:cNvSpPr>
            <a:spLocks noGrp="1"/>
          </p:cNvSpPr>
          <p:nvPr>
            <p:ph type="sldNum" sz="quarter" idx="12"/>
          </p:nvPr>
        </p:nvSpPr>
        <p:spPr/>
        <p:txBody>
          <a:bodyPr/>
          <a:lstStyle/>
          <a:p>
            <a:fld id="{25F51578-6835-4416-9DA3-8DC2171AF31D}" type="slidenum">
              <a:rPr lang="en-IN" smtClean="0"/>
              <a:t>15</a:t>
            </a:fld>
            <a:endParaRPr lang="en-IN"/>
          </a:p>
        </p:txBody>
      </p:sp>
    </p:spTree>
    <p:extLst>
      <p:ext uri="{BB962C8B-B14F-4D97-AF65-F5344CB8AC3E}">
        <p14:creationId xmlns:p14="http://schemas.microsoft.com/office/powerpoint/2010/main" val="34385249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8D9350-54F7-C577-9EB2-0DDF7980AF3B}"/>
              </a:ext>
            </a:extLst>
          </p:cNvPr>
          <p:cNvSpPr>
            <a:spLocks noGrp="1"/>
          </p:cNvSpPr>
          <p:nvPr>
            <p:ph idx="1"/>
          </p:nvPr>
        </p:nvSpPr>
        <p:spPr>
          <a:xfrm>
            <a:off x="1066800" y="411480"/>
            <a:ext cx="10058400" cy="5896192"/>
          </a:xfrm>
        </p:spPr>
        <p:txBody>
          <a:bodyPr>
            <a:normAutofit fontScale="55000" lnSpcReduction="20000"/>
          </a:bodyPr>
          <a:lstStyle/>
          <a:p>
            <a:pPr marL="0" indent="0">
              <a:buNone/>
            </a:pPr>
            <a:r>
              <a:rPr lang="en-US" dirty="0">
                <a:latin typeface="Times New Roman" panose="02020603050405020304" pitchFamily="18" charset="0"/>
                <a:cs typeface="Times New Roman" panose="02020603050405020304" pitchFamily="18" charset="0"/>
              </a:rPr>
              <a:t>6. Generate bill </a:t>
            </a:r>
          </a:p>
          <a:p>
            <a:pPr marL="0" indent="0">
              <a:buNone/>
            </a:pPr>
            <a:r>
              <a:rPr lang="en-US" dirty="0">
                <a:latin typeface="Times New Roman" panose="02020603050405020304" pitchFamily="18" charset="0"/>
                <a:cs typeface="Times New Roman" panose="02020603050405020304" pitchFamily="18" charset="0"/>
              </a:rPr>
              <a:t>7. Display customer details </a:t>
            </a:r>
          </a:p>
          <a:p>
            <a:pPr marL="0" indent="0">
              <a:buNone/>
            </a:pPr>
            <a:r>
              <a:rPr lang="en-US" dirty="0">
                <a:latin typeface="Times New Roman" panose="02020603050405020304" pitchFamily="18" charset="0"/>
                <a:cs typeface="Times New Roman" panose="02020603050405020304" pitchFamily="18" charset="0"/>
              </a:rPr>
              <a:t>8. Add item to </a:t>
            </a:r>
            <a:r>
              <a:rPr lang="en-US" dirty="0" err="1">
                <a:latin typeface="Times New Roman" panose="02020603050405020304" pitchFamily="18" charset="0"/>
                <a:cs typeface="Times New Roman" panose="02020603050405020304" pitchFamily="18" charset="0"/>
              </a:rPr>
              <a:t>wishlist</a:t>
            </a: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9. View </a:t>
            </a:r>
            <a:r>
              <a:rPr lang="en-US" dirty="0" err="1">
                <a:latin typeface="Times New Roman" panose="02020603050405020304" pitchFamily="18" charset="0"/>
                <a:cs typeface="Times New Roman" panose="02020603050405020304" pitchFamily="18" charset="0"/>
              </a:rPr>
              <a:t>wishlist</a:t>
            </a: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10. Search item in cart </a:t>
            </a:r>
          </a:p>
          <a:p>
            <a:pPr marL="0" indent="0">
              <a:buNone/>
            </a:pPr>
            <a:r>
              <a:rPr lang="en-US" dirty="0">
                <a:latin typeface="Times New Roman" panose="02020603050405020304" pitchFamily="18" charset="0"/>
                <a:cs typeface="Times New Roman" panose="02020603050405020304" pitchFamily="18" charset="0"/>
              </a:rPr>
              <a:t>11. Exit Read user choice into variable 'choice’ </a:t>
            </a:r>
          </a:p>
          <a:p>
            <a:pPr marL="0" indent="0">
              <a:buNone/>
            </a:pPr>
            <a:r>
              <a:rPr lang="en-US" dirty="0">
                <a:latin typeface="Times New Roman" panose="02020603050405020304" pitchFamily="18" charset="0"/>
                <a:cs typeface="Times New Roman" panose="02020603050405020304" pitchFamily="18" charset="0"/>
              </a:rPr>
              <a:t>Switch (choice): </a:t>
            </a:r>
          </a:p>
          <a:p>
            <a:pPr marL="0" indent="0">
              <a:buNone/>
            </a:pPr>
            <a:r>
              <a:rPr lang="en-US" dirty="0">
                <a:latin typeface="Times New Roman" panose="02020603050405020304" pitchFamily="18" charset="0"/>
                <a:cs typeface="Times New Roman" panose="02020603050405020304" pitchFamily="18" charset="0"/>
              </a:rPr>
              <a:t>Case 1: </a:t>
            </a:r>
          </a:p>
          <a:p>
            <a:pPr marL="0" indent="0">
              <a:buNone/>
            </a:pPr>
            <a:r>
              <a:rPr lang="en-US" dirty="0">
                <a:latin typeface="Times New Roman" panose="02020603050405020304" pitchFamily="18" charset="0"/>
                <a:cs typeface="Times New Roman" panose="02020603050405020304" pitchFamily="18" charset="0"/>
              </a:rPr>
              <a:t>Call </a:t>
            </a:r>
            <a:r>
              <a:rPr lang="en-US" dirty="0" err="1">
                <a:latin typeface="Times New Roman" panose="02020603050405020304" pitchFamily="18" charset="0"/>
                <a:cs typeface="Times New Roman" panose="02020603050405020304" pitchFamily="18" charset="0"/>
              </a:rPr>
              <a:t>displayDiscounts</a:t>
            </a: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Break</a:t>
            </a:r>
          </a:p>
          <a:p>
            <a:pPr marL="0" indent="0">
              <a:buNone/>
            </a:pPr>
            <a:r>
              <a:rPr lang="en-US" dirty="0">
                <a:latin typeface="Times New Roman" panose="02020603050405020304" pitchFamily="18" charset="0"/>
                <a:cs typeface="Times New Roman" panose="02020603050405020304" pitchFamily="18" charset="0"/>
              </a:rPr>
              <a:t> Case 2: </a:t>
            </a:r>
          </a:p>
          <a:p>
            <a:pPr marL="0" indent="0">
              <a:buNone/>
            </a:pPr>
            <a:r>
              <a:rPr lang="en-IN" dirty="0">
                <a:latin typeface="Times New Roman" panose="02020603050405020304" pitchFamily="18" charset="0"/>
                <a:cs typeface="Times New Roman" panose="02020603050405020304" pitchFamily="18" charset="0"/>
              </a:rPr>
              <a:t>Prompt: "Enter number of items to add:" </a:t>
            </a:r>
          </a:p>
          <a:p>
            <a:pPr marL="0" indent="0">
              <a:buNone/>
            </a:pPr>
            <a:r>
              <a:rPr lang="en-IN" dirty="0">
                <a:latin typeface="Times New Roman" panose="02020603050405020304" pitchFamily="18" charset="0"/>
                <a:cs typeface="Times New Roman" panose="02020603050405020304" pitchFamily="18" charset="0"/>
              </a:rPr>
              <a:t>Read n For </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 1 to n:</a:t>
            </a:r>
          </a:p>
          <a:p>
            <a:pPr marL="0" indent="0">
              <a:buNone/>
            </a:pPr>
            <a:r>
              <a:rPr lang="en-IN" dirty="0">
                <a:latin typeface="Times New Roman" panose="02020603050405020304" pitchFamily="18" charset="0"/>
                <a:cs typeface="Times New Roman" panose="02020603050405020304" pitchFamily="18" charset="0"/>
              </a:rPr>
              <a:t> Prompt: "Enter item name:" </a:t>
            </a:r>
          </a:p>
          <a:p>
            <a:pPr marL="0" indent="0">
              <a:buNone/>
            </a:pPr>
            <a:r>
              <a:rPr lang="en-IN" dirty="0">
                <a:latin typeface="Times New Roman" panose="02020603050405020304" pitchFamily="18" charset="0"/>
                <a:cs typeface="Times New Roman" panose="02020603050405020304" pitchFamily="18" charset="0"/>
              </a:rPr>
              <a:t>Read item.name </a:t>
            </a:r>
          </a:p>
          <a:p>
            <a:pPr marL="0" indent="0">
              <a:buNone/>
            </a:pPr>
            <a:r>
              <a:rPr lang="en-IN" dirty="0">
                <a:latin typeface="Times New Roman" panose="02020603050405020304" pitchFamily="18" charset="0"/>
                <a:cs typeface="Times New Roman" panose="02020603050405020304" pitchFamily="18" charset="0"/>
              </a:rPr>
              <a:t>Prompt: "Enter item price:" </a:t>
            </a:r>
          </a:p>
          <a:p>
            <a:pPr marL="0" indent="0">
              <a:buNone/>
            </a:pPr>
            <a:r>
              <a:rPr lang="en-IN" dirty="0">
                <a:latin typeface="Times New Roman" panose="02020603050405020304" pitchFamily="18" charset="0"/>
                <a:cs typeface="Times New Roman" panose="02020603050405020304" pitchFamily="18" charset="0"/>
              </a:rPr>
              <a:t>Read </a:t>
            </a:r>
            <a:r>
              <a:rPr lang="en-IN" dirty="0" err="1">
                <a:latin typeface="Times New Roman" panose="02020603050405020304" pitchFamily="18" charset="0"/>
                <a:cs typeface="Times New Roman" panose="02020603050405020304" pitchFamily="18" charset="0"/>
              </a:rPr>
              <a:t>item.price</a:t>
            </a:r>
            <a:r>
              <a:rPr lang="en-IN" dirty="0">
                <a:latin typeface="Times New Roman" panose="02020603050405020304" pitchFamily="18" charset="0"/>
                <a:cs typeface="Times New Roman" panose="02020603050405020304" pitchFamily="18" charset="0"/>
              </a:rPr>
              <a:t> </a:t>
            </a:r>
          </a:p>
          <a:p>
            <a:pPr marL="0" indent="0">
              <a:buNone/>
            </a:pPr>
            <a:r>
              <a:rPr lang="en-IN" dirty="0">
                <a:latin typeface="Times New Roman" panose="02020603050405020304" pitchFamily="18" charset="0"/>
                <a:cs typeface="Times New Roman" panose="02020603050405020304" pitchFamily="18" charset="0"/>
              </a:rPr>
              <a:t>Prompt: "Enter quantity:“</a:t>
            </a:r>
          </a:p>
          <a:p>
            <a:pPr marL="0" indent="0">
              <a:buNone/>
            </a:pPr>
            <a:r>
              <a:rPr lang="en-IN" dirty="0">
                <a:latin typeface="Times New Roman" panose="02020603050405020304" pitchFamily="18" charset="0"/>
                <a:cs typeface="Times New Roman" panose="02020603050405020304" pitchFamily="18" charset="0"/>
              </a:rPr>
              <a:t> Read </a:t>
            </a:r>
            <a:r>
              <a:rPr lang="en-IN" dirty="0" err="1">
                <a:latin typeface="Times New Roman" panose="02020603050405020304" pitchFamily="18" charset="0"/>
                <a:cs typeface="Times New Roman" panose="02020603050405020304" pitchFamily="18" charset="0"/>
              </a:rPr>
              <a:t>item.quantity</a:t>
            </a:r>
            <a:r>
              <a:rPr lang="en-IN" dirty="0">
                <a:latin typeface="Times New Roman" panose="02020603050405020304" pitchFamily="18" charset="0"/>
                <a:cs typeface="Times New Roman" panose="02020603050405020304" pitchFamily="18" charset="0"/>
              </a:rPr>
              <a:t> </a:t>
            </a:r>
          </a:p>
          <a:p>
            <a:pPr marL="0" indent="0">
              <a:buNone/>
            </a:pPr>
            <a:r>
              <a:rPr lang="en-IN" dirty="0">
                <a:latin typeface="Times New Roman" panose="02020603050405020304" pitchFamily="18" charset="0"/>
                <a:cs typeface="Times New Roman" panose="02020603050405020304" pitchFamily="18" charset="0"/>
              </a:rPr>
              <a:t>Call push(cart, item) </a:t>
            </a:r>
          </a:p>
        </p:txBody>
      </p:sp>
      <p:sp>
        <p:nvSpPr>
          <p:cNvPr id="4" name="Slide Number Placeholder 3">
            <a:extLst>
              <a:ext uri="{FF2B5EF4-FFF2-40B4-BE49-F238E27FC236}">
                <a16:creationId xmlns:a16="http://schemas.microsoft.com/office/drawing/2014/main" id="{FC94DA60-EAB3-D3B2-B690-B6915E76D7EE}"/>
              </a:ext>
            </a:extLst>
          </p:cNvPr>
          <p:cNvSpPr>
            <a:spLocks noGrp="1"/>
          </p:cNvSpPr>
          <p:nvPr>
            <p:ph type="sldNum" sz="quarter" idx="12"/>
          </p:nvPr>
        </p:nvSpPr>
        <p:spPr/>
        <p:txBody>
          <a:bodyPr/>
          <a:lstStyle/>
          <a:p>
            <a:fld id="{25F51578-6835-4416-9DA3-8DC2171AF31D}" type="slidenum">
              <a:rPr lang="en-IN" smtClean="0"/>
              <a:t>16</a:t>
            </a:fld>
            <a:endParaRPr lang="en-IN"/>
          </a:p>
        </p:txBody>
      </p:sp>
    </p:spTree>
    <p:extLst>
      <p:ext uri="{BB962C8B-B14F-4D97-AF65-F5344CB8AC3E}">
        <p14:creationId xmlns:p14="http://schemas.microsoft.com/office/powerpoint/2010/main" val="10414594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513732-AECC-A8C6-05ED-C24172312B00}"/>
              </a:ext>
            </a:extLst>
          </p:cNvPr>
          <p:cNvSpPr>
            <a:spLocks noGrp="1"/>
          </p:cNvSpPr>
          <p:nvPr>
            <p:ph idx="1"/>
          </p:nvPr>
        </p:nvSpPr>
        <p:spPr>
          <a:xfrm>
            <a:off x="1066800" y="457200"/>
            <a:ext cx="10058400" cy="5850472"/>
          </a:xfrm>
        </p:spPr>
        <p:txBody>
          <a:bodyPr>
            <a:normAutofit fontScale="55000" lnSpcReduction="20000"/>
          </a:bodyPr>
          <a:lstStyle/>
          <a:p>
            <a:pPr marL="0" indent="0">
              <a:buNone/>
            </a:pPr>
            <a:r>
              <a:rPr lang="en-IN" dirty="0">
                <a:latin typeface="Times New Roman" panose="02020603050405020304" pitchFamily="18" charset="0"/>
                <a:cs typeface="Times New Roman" panose="02020603050405020304" pitchFamily="18" charset="0"/>
              </a:rPr>
              <a:t>End For</a:t>
            </a:r>
          </a:p>
          <a:p>
            <a:pPr marL="0" indent="0">
              <a:buNone/>
            </a:pPr>
            <a:r>
              <a:rPr lang="en-IN" dirty="0">
                <a:latin typeface="Times New Roman" panose="02020603050405020304" pitchFamily="18" charset="0"/>
                <a:cs typeface="Times New Roman" panose="02020603050405020304" pitchFamily="18" charset="0"/>
              </a:rPr>
              <a:t> Break </a:t>
            </a:r>
          </a:p>
          <a:p>
            <a:pPr marL="0" indent="0">
              <a:buNone/>
            </a:pPr>
            <a:r>
              <a:rPr lang="en-US" dirty="0">
                <a:latin typeface="Times New Roman" panose="02020603050405020304" pitchFamily="18" charset="0"/>
                <a:cs typeface="Times New Roman" panose="02020603050405020304" pitchFamily="18" charset="0"/>
              </a:rPr>
              <a:t>Case 3: </a:t>
            </a:r>
          </a:p>
          <a:p>
            <a:pPr marL="0" indent="0">
              <a:buNone/>
            </a:pPr>
            <a:r>
              <a:rPr lang="en-US" dirty="0">
                <a:latin typeface="Times New Roman" panose="02020603050405020304" pitchFamily="18" charset="0"/>
                <a:cs typeface="Times New Roman" panose="02020603050405020304" pitchFamily="18" charset="0"/>
              </a:rPr>
              <a:t>Call </a:t>
            </a:r>
            <a:r>
              <a:rPr lang="en-US" dirty="0" err="1">
                <a:latin typeface="Times New Roman" panose="02020603050405020304" pitchFamily="18" charset="0"/>
                <a:cs typeface="Times New Roman" panose="02020603050405020304" pitchFamily="18" charset="0"/>
              </a:rPr>
              <a:t>displayCart</a:t>
            </a:r>
            <a:r>
              <a:rPr lang="en-US" dirty="0">
                <a:latin typeface="Times New Roman" panose="02020603050405020304" pitchFamily="18" charset="0"/>
                <a:cs typeface="Times New Roman" panose="02020603050405020304" pitchFamily="18" charset="0"/>
              </a:rPr>
              <a:t>(cart)</a:t>
            </a:r>
          </a:p>
          <a:p>
            <a:pPr marL="0" indent="0">
              <a:buNone/>
            </a:pPr>
            <a:r>
              <a:rPr lang="en-US" dirty="0">
                <a:latin typeface="Times New Roman" panose="02020603050405020304" pitchFamily="18" charset="0"/>
                <a:cs typeface="Times New Roman" panose="02020603050405020304" pitchFamily="18" charset="0"/>
              </a:rPr>
              <a:t> Break</a:t>
            </a:r>
          </a:p>
          <a:p>
            <a:pPr marL="0" indent="0">
              <a:buNone/>
            </a:pPr>
            <a:r>
              <a:rPr lang="en-US" dirty="0">
                <a:latin typeface="Times New Roman" panose="02020603050405020304" pitchFamily="18" charset="0"/>
                <a:cs typeface="Times New Roman" panose="02020603050405020304" pitchFamily="18" charset="0"/>
              </a:rPr>
              <a:t> Case 4: </a:t>
            </a:r>
          </a:p>
          <a:p>
            <a:pPr marL="0" indent="0">
              <a:buNone/>
            </a:pPr>
            <a:r>
              <a:rPr lang="en-US" dirty="0">
                <a:latin typeface="Times New Roman" panose="02020603050405020304" pitchFamily="18" charset="0"/>
                <a:cs typeface="Times New Roman" panose="02020603050405020304" pitchFamily="18" charset="0"/>
              </a:rPr>
              <a:t>Call pop(cart) </a:t>
            </a:r>
          </a:p>
          <a:p>
            <a:pPr marL="0" indent="0">
              <a:buNone/>
            </a:pPr>
            <a:r>
              <a:rPr lang="en-US" dirty="0">
                <a:latin typeface="Times New Roman" panose="02020603050405020304" pitchFamily="18" charset="0"/>
                <a:cs typeface="Times New Roman" panose="02020603050405020304" pitchFamily="18" charset="0"/>
              </a:rPr>
              <a:t>Break </a:t>
            </a:r>
          </a:p>
          <a:p>
            <a:pPr marL="0" indent="0">
              <a:buNone/>
            </a:pPr>
            <a:r>
              <a:rPr lang="en-US" dirty="0">
                <a:latin typeface="Times New Roman" panose="02020603050405020304" pitchFamily="18" charset="0"/>
                <a:cs typeface="Times New Roman" panose="02020603050405020304" pitchFamily="18" charset="0"/>
              </a:rPr>
              <a:t>Case 5:</a:t>
            </a:r>
          </a:p>
          <a:p>
            <a:pPr marL="0" indent="0">
              <a:buNone/>
            </a:pPr>
            <a:r>
              <a:rPr lang="en-US" dirty="0">
                <a:latin typeface="Times New Roman" panose="02020603050405020304" pitchFamily="18" charset="0"/>
                <a:cs typeface="Times New Roman" panose="02020603050405020304" pitchFamily="18" charset="0"/>
              </a:rPr>
              <a:t> Call </a:t>
            </a:r>
            <a:r>
              <a:rPr lang="en-US" dirty="0" err="1">
                <a:latin typeface="Times New Roman" panose="02020603050405020304" pitchFamily="18" charset="0"/>
                <a:cs typeface="Times New Roman" panose="02020603050405020304" pitchFamily="18" charset="0"/>
              </a:rPr>
              <a:t>displayCart</a:t>
            </a:r>
            <a:r>
              <a:rPr lang="en-US" dirty="0">
                <a:latin typeface="Times New Roman" panose="02020603050405020304" pitchFamily="18" charset="0"/>
                <a:cs typeface="Times New Roman" panose="02020603050405020304" pitchFamily="18" charset="0"/>
              </a:rPr>
              <a:t>(cart)</a:t>
            </a:r>
          </a:p>
          <a:p>
            <a:pPr marL="0" indent="0">
              <a:buNone/>
            </a:pPr>
            <a:r>
              <a:rPr lang="en-US" dirty="0">
                <a:latin typeface="Times New Roman" panose="02020603050405020304" pitchFamily="18" charset="0"/>
                <a:cs typeface="Times New Roman" panose="02020603050405020304" pitchFamily="18" charset="0"/>
              </a:rPr>
              <a:t> Break</a:t>
            </a:r>
          </a:p>
          <a:p>
            <a:pPr marL="0" indent="0">
              <a:buNone/>
            </a:pPr>
            <a:r>
              <a:rPr lang="en-US" dirty="0">
                <a:latin typeface="Times New Roman" panose="02020603050405020304" pitchFamily="18" charset="0"/>
                <a:cs typeface="Times New Roman" panose="02020603050405020304" pitchFamily="18" charset="0"/>
              </a:rPr>
              <a:t> Case 6: </a:t>
            </a:r>
          </a:p>
          <a:p>
            <a:pPr marL="0" indent="0">
              <a:buNone/>
            </a:pPr>
            <a:r>
              <a:rPr lang="en-US" dirty="0">
                <a:latin typeface="Times New Roman" panose="02020603050405020304" pitchFamily="18" charset="0"/>
                <a:cs typeface="Times New Roman" panose="02020603050405020304" pitchFamily="18" charset="0"/>
              </a:rPr>
              <a:t>Call </a:t>
            </a:r>
            <a:r>
              <a:rPr lang="en-US" dirty="0" err="1">
                <a:latin typeface="Times New Roman" panose="02020603050405020304" pitchFamily="18" charset="0"/>
                <a:cs typeface="Times New Roman" panose="02020603050405020304" pitchFamily="18" charset="0"/>
              </a:rPr>
              <a:t>generateBillFromCart</a:t>
            </a:r>
            <a:r>
              <a:rPr lang="en-US" dirty="0">
                <a:latin typeface="Times New Roman" panose="02020603050405020304" pitchFamily="18" charset="0"/>
                <a:cs typeface="Times New Roman" panose="02020603050405020304" pitchFamily="18" charset="0"/>
              </a:rPr>
              <a:t>(cart)</a:t>
            </a:r>
          </a:p>
          <a:p>
            <a:pPr marL="0" indent="0">
              <a:buNone/>
            </a:pPr>
            <a:r>
              <a:rPr lang="en-US" dirty="0">
                <a:latin typeface="Times New Roman" panose="02020603050405020304" pitchFamily="18" charset="0"/>
                <a:cs typeface="Times New Roman" panose="02020603050405020304" pitchFamily="18" charset="0"/>
              </a:rPr>
              <a:t> Break</a:t>
            </a:r>
          </a:p>
          <a:p>
            <a:pPr marL="0" indent="0">
              <a:buNone/>
            </a:pPr>
            <a:r>
              <a:rPr lang="en-US" dirty="0">
                <a:latin typeface="Times New Roman" panose="02020603050405020304" pitchFamily="18" charset="0"/>
                <a:cs typeface="Times New Roman" panose="02020603050405020304" pitchFamily="18" charset="0"/>
              </a:rPr>
              <a:t> Case 7: </a:t>
            </a:r>
          </a:p>
          <a:p>
            <a:pPr marL="0" indent="0">
              <a:buNone/>
            </a:pPr>
            <a:r>
              <a:rPr lang="en-US" dirty="0">
                <a:latin typeface="Times New Roman" panose="02020603050405020304" pitchFamily="18" charset="0"/>
                <a:cs typeface="Times New Roman" panose="02020603050405020304" pitchFamily="18" charset="0"/>
              </a:rPr>
              <a:t>Call </a:t>
            </a:r>
            <a:r>
              <a:rPr lang="en-US" dirty="0" err="1">
                <a:latin typeface="Times New Roman" panose="02020603050405020304" pitchFamily="18" charset="0"/>
                <a:cs typeface="Times New Roman" panose="02020603050405020304" pitchFamily="18" charset="0"/>
              </a:rPr>
              <a:t>displayCustomerDetails</a:t>
            </a: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Break </a:t>
            </a:r>
          </a:p>
          <a:p>
            <a:pPr marL="0" indent="0">
              <a:buNone/>
            </a:pPr>
            <a:r>
              <a:rPr lang="en-US" dirty="0">
                <a:latin typeface="Times New Roman" panose="02020603050405020304" pitchFamily="18" charset="0"/>
                <a:cs typeface="Times New Roman" panose="02020603050405020304" pitchFamily="18" charset="0"/>
              </a:rPr>
              <a:t>Case 8: </a:t>
            </a:r>
          </a:p>
          <a:p>
            <a:pPr marL="0" indent="0">
              <a:buNone/>
            </a:pPr>
            <a:r>
              <a:rPr lang="en-US" dirty="0">
                <a:latin typeface="Times New Roman" panose="02020603050405020304" pitchFamily="18" charset="0"/>
                <a:cs typeface="Times New Roman" panose="02020603050405020304" pitchFamily="18" charset="0"/>
              </a:rPr>
              <a:t>Prompt: "Enter number of items to add to </a:t>
            </a:r>
            <a:r>
              <a:rPr lang="en-US" dirty="0" err="1">
                <a:latin typeface="Times New Roman" panose="02020603050405020304" pitchFamily="18" charset="0"/>
                <a:cs typeface="Times New Roman" panose="02020603050405020304" pitchFamily="18" charset="0"/>
              </a:rPr>
              <a:t>wishlist</a:t>
            </a: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 Read n</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39B5B1D-E738-9F4D-CE35-C5C1ECDB1183}"/>
              </a:ext>
            </a:extLst>
          </p:cNvPr>
          <p:cNvSpPr>
            <a:spLocks noGrp="1"/>
          </p:cNvSpPr>
          <p:nvPr>
            <p:ph type="sldNum" sz="quarter" idx="12"/>
          </p:nvPr>
        </p:nvSpPr>
        <p:spPr/>
        <p:txBody>
          <a:bodyPr/>
          <a:lstStyle/>
          <a:p>
            <a:fld id="{25F51578-6835-4416-9DA3-8DC2171AF31D}" type="slidenum">
              <a:rPr lang="en-IN" smtClean="0"/>
              <a:t>17</a:t>
            </a:fld>
            <a:endParaRPr lang="en-IN"/>
          </a:p>
        </p:txBody>
      </p:sp>
    </p:spTree>
    <p:extLst>
      <p:ext uri="{BB962C8B-B14F-4D97-AF65-F5344CB8AC3E}">
        <p14:creationId xmlns:p14="http://schemas.microsoft.com/office/powerpoint/2010/main" val="18897584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D9DA51-469B-5A8E-78F5-C8654980489A}"/>
              </a:ext>
            </a:extLst>
          </p:cNvPr>
          <p:cNvSpPr>
            <a:spLocks noGrp="1"/>
          </p:cNvSpPr>
          <p:nvPr>
            <p:ph idx="1"/>
          </p:nvPr>
        </p:nvSpPr>
        <p:spPr>
          <a:xfrm>
            <a:off x="1066800" y="472440"/>
            <a:ext cx="10058400" cy="5835232"/>
          </a:xfrm>
        </p:spPr>
        <p:txBody>
          <a:bodyPr>
            <a:normAutofit fontScale="55000" lnSpcReduction="20000"/>
          </a:bodyPr>
          <a:lstStyle/>
          <a:p>
            <a:pPr marL="0" indent="0">
              <a:buNone/>
            </a:pPr>
            <a:r>
              <a:rPr lang="en-IN" dirty="0">
                <a:latin typeface="Times New Roman" panose="02020603050405020304" pitchFamily="18" charset="0"/>
                <a:cs typeface="Times New Roman" panose="02020603050405020304" pitchFamily="18" charset="0"/>
              </a:rPr>
              <a:t>For </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 1 to n: </a:t>
            </a:r>
          </a:p>
          <a:p>
            <a:pPr marL="0" indent="0">
              <a:buNone/>
            </a:pPr>
            <a:r>
              <a:rPr lang="en-IN" dirty="0">
                <a:latin typeface="Times New Roman" panose="02020603050405020304" pitchFamily="18" charset="0"/>
                <a:cs typeface="Times New Roman" panose="02020603050405020304" pitchFamily="18" charset="0"/>
              </a:rPr>
              <a:t>Prompt: "Enter </a:t>
            </a:r>
            <a:r>
              <a:rPr lang="en-IN" dirty="0" err="1">
                <a:latin typeface="Times New Roman" panose="02020603050405020304" pitchFamily="18" charset="0"/>
                <a:cs typeface="Times New Roman" panose="02020603050405020304" pitchFamily="18" charset="0"/>
              </a:rPr>
              <a:t>wishlist</a:t>
            </a:r>
            <a:r>
              <a:rPr lang="en-IN" dirty="0">
                <a:latin typeface="Times New Roman" panose="02020603050405020304" pitchFamily="18" charset="0"/>
                <a:cs typeface="Times New Roman" panose="02020603050405020304" pitchFamily="18" charset="0"/>
              </a:rPr>
              <a:t> item name:" </a:t>
            </a:r>
          </a:p>
          <a:p>
            <a:pPr marL="0" indent="0">
              <a:buNone/>
            </a:pPr>
            <a:r>
              <a:rPr lang="en-IN" dirty="0">
                <a:latin typeface="Times New Roman" panose="02020603050405020304" pitchFamily="18" charset="0"/>
                <a:cs typeface="Times New Roman" panose="02020603050405020304" pitchFamily="18" charset="0"/>
              </a:rPr>
              <a:t>Read item.name </a:t>
            </a:r>
          </a:p>
          <a:p>
            <a:pPr marL="0" indent="0">
              <a:buNone/>
            </a:pPr>
            <a:r>
              <a:rPr lang="en-IN" dirty="0">
                <a:latin typeface="Times New Roman" panose="02020603050405020304" pitchFamily="18" charset="0"/>
                <a:cs typeface="Times New Roman" panose="02020603050405020304" pitchFamily="18" charset="0"/>
              </a:rPr>
              <a:t>Prompt: "Enter item price:" </a:t>
            </a:r>
          </a:p>
          <a:p>
            <a:pPr marL="0" indent="0">
              <a:buNone/>
            </a:pPr>
            <a:r>
              <a:rPr lang="en-IN" dirty="0">
                <a:latin typeface="Times New Roman" panose="02020603050405020304" pitchFamily="18" charset="0"/>
                <a:cs typeface="Times New Roman" panose="02020603050405020304" pitchFamily="18" charset="0"/>
              </a:rPr>
              <a:t>Read </a:t>
            </a:r>
            <a:r>
              <a:rPr lang="en-IN" dirty="0" err="1">
                <a:latin typeface="Times New Roman" panose="02020603050405020304" pitchFamily="18" charset="0"/>
                <a:cs typeface="Times New Roman" panose="02020603050405020304" pitchFamily="18" charset="0"/>
              </a:rPr>
              <a:t>item.price</a:t>
            </a: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 Prompt: "Enter quantity:“</a:t>
            </a:r>
          </a:p>
          <a:p>
            <a:pPr marL="0" indent="0">
              <a:buNone/>
            </a:pPr>
            <a:r>
              <a:rPr lang="en-IN" dirty="0">
                <a:latin typeface="Times New Roman" panose="02020603050405020304" pitchFamily="18" charset="0"/>
                <a:cs typeface="Times New Roman" panose="02020603050405020304" pitchFamily="18" charset="0"/>
              </a:rPr>
              <a:t> Read </a:t>
            </a:r>
            <a:r>
              <a:rPr lang="en-IN" dirty="0" err="1">
                <a:latin typeface="Times New Roman" panose="02020603050405020304" pitchFamily="18" charset="0"/>
                <a:cs typeface="Times New Roman" panose="02020603050405020304" pitchFamily="18" charset="0"/>
              </a:rPr>
              <a:t>item.quantity</a:t>
            </a:r>
            <a:r>
              <a:rPr lang="en-IN" dirty="0">
                <a:latin typeface="Times New Roman" panose="02020603050405020304" pitchFamily="18" charset="0"/>
                <a:cs typeface="Times New Roman" panose="02020603050405020304" pitchFamily="18" charset="0"/>
              </a:rPr>
              <a:t> </a:t>
            </a:r>
          </a:p>
          <a:p>
            <a:pPr marL="0" indent="0">
              <a:buNone/>
            </a:pPr>
            <a:r>
              <a:rPr lang="en-IN" dirty="0">
                <a:latin typeface="Times New Roman" panose="02020603050405020304" pitchFamily="18" charset="0"/>
                <a:cs typeface="Times New Roman" panose="02020603050405020304" pitchFamily="18" charset="0"/>
              </a:rPr>
              <a:t>Call </a:t>
            </a:r>
            <a:r>
              <a:rPr lang="en-IN" dirty="0" err="1">
                <a:latin typeface="Times New Roman" panose="02020603050405020304" pitchFamily="18" charset="0"/>
                <a:cs typeface="Times New Roman" panose="02020603050405020304" pitchFamily="18" charset="0"/>
              </a:rPr>
              <a:t>addToWishlist</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wishlist</a:t>
            </a:r>
            <a:r>
              <a:rPr lang="en-IN" dirty="0">
                <a:latin typeface="Times New Roman" panose="02020603050405020304" pitchFamily="18" charset="0"/>
                <a:cs typeface="Times New Roman" panose="02020603050405020304" pitchFamily="18" charset="0"/>
              </a:rPr>
              <a:t>, item) </a:t>
            </a:r>
          </a:p>
          <a:p>
            <a:pPr marL="0" indent="0">
              <a:buNone/>
            </a:pPr>
            <a:r>
              <a:rPr lang="en-IN" dirty="0">
                <a:latin typeface="Times New Roman" panose="02020603050405020304" pitchFamily="18" charset="0"/>
                <a:cs typeface="Times New Roman" panose="02020603050405020304" pitchFamily="18" charset="0"/>
              </a:rPr>
              <a:t>End For</a:t>
            </a:r>
          </a:p>
          <a:p>
            <a:pPr marL="0" indent="0">
              <a:buNone/>
            </a:pPr>
            <a:r>
              <a:rPr lang="en-IN" dirty="0">
                <a:latin typeface="Times New Roman" panose="02020603050405020304" pitchFamily="18" charset="0"/>
                <a:cs typeface="Times New Roman" panose="02020603050405020304" pitchFamily="18" charset="0"/>
              </a:rPr>
              <a:t> Break </a:t>
            </a:r>
          </a:p>
          <a:p>
            <a:pPr marL="0" indent="0">
              <a:buNone/>
            </a:pPr>
            <a:r>
              <a:rPr lang="en-IN" dirty="0">
                <a:latin typeface="Times New Roman" panose="02020603050405020304" pitchFamily="18" charset="0"/>
                <a:cs typeface="Times New Roman" panose="02020603050405020304" pitchFamily="18" charset="0"/>
              </a:rPr>
              <a:t>Case 9: </a:t>
            </a:r>
          </a:p>
          <a:p>
            <a:pPr marL="0" indent="0">
              <a:buNone/>
            </a:pPr>
            <a:r>
              <a:rPr lang="en-IN" dirty="0">
                <a:latin typeface="Times New Roman" panose="02020603050405020304" pitchFamily="18" charset="0"/>
                <a:cs typeface="Times New Roman" panose="02020603050405020304" pitchFamily="18" charset="0"/>
              </a:rPr>
              <a:t>Call </a:t>
            </a:r>
            <a:r>
              <a:rPr lang="en-IN" dirty="0" err="1">
                <a:latin typeface="Times New Roman" panose="02020603050405020304" pitchFamily="18" charset="0"/>
                <a:cs typeface="Times New Roman" panose="02020603050405020304" pitchFamily="18" charset="0"/>
              </a:rPr>
              <a:t>viewWishlist</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wishlist</a:t>
            </a:r>
            <a:r>
              <a:rPr lang="en-IN" dirty="0">
                <a:latin typeface="Times New Roman" panose="02020603050405020304" pitchFamily="18" charset="0"/>
                <a:cs typeface="Times New Roman" panose="02020603050405020304" pitchFamily="18" charset="0"/>
              </a:rPr>
              <a:t>)</a:t>
            </a:r>
          </a:p>
          <a:p>
            <a:pPr marL="0" indent="0">
              <a:buNone/>
            </a:pPr>
            <a:r>
              <a:rPr lang="en-IN" dirty="0">
                <a:latin typeface="Times New Roman" panose="02020603050405020304" pitchFamily="18" charset="0"/>
                <a:cs typeface="Times New Roman" panose="02020603050405020304" pitchFamily="18" charset="0"/>
              </a:rPr>
              <a:t> Break</a:t>
            </a:r>
          </a:p>
          <a:p>
            <a:pPr marL="0" indent="0">
              <a:buNone/>
            </a:pPr>
            <a:r>
              <a:rPr lang="en-IN" dirty="0">
                <a:latin typeface="Times New Roman" panose="02020603050405020304" pitchFamily="18" charset="0"/>
                <a:cs typeface="Times New Roman" panose="02020603050405020304" pitchFamily="18" charset="0"/>
              </a:rPr>
              <a:t> Case 10: </a:t>
            </a:r>
          </a:p>
          <a:p>
            <a:pPr marL="0" indent="0">
              <a:buNone/>
            </a:pPr>
            <a:r>
              <a:rPr lang="en-IN" dirty="0">
                <a:latin typeface="Times New Roman" panose="02020603050405020304" pitchFamily="18" charset="0"/>
                <a:cs typeface="Times New Roman" panose="02020603050405020304" pitchFamily="18" charset="0"/>
              </a:rPr>
              <a:t>Prompt: "Enter item name to search in cart:" </a:t>
            </a:r>
          </a:p>
          <a:p>
            <a:pPr marL="0" indent="0">
              <a:buNone/>
            </a:pPr>
            <a:r>
              <a:rPr lang="en-IN" dirty="0">
                <a:latin typeface="Times New Roman" panose="02020603050405020304" pitchFamily="18" charset="0"/>
                <a:cs typeface="Times New Roman" panose="02020603050405020304" pitchFamily="18" charset="0"/>
              </a:rPr>
              <a:t>Read </a:t>
            </a:r>
            <a:r>
              <a:rPr lang="en-IN" dirty="0" err="1">
                <a:latin typeface="Times New Roman" panose="02020603050405020304" pitchFamily="18" charset="0"/>
                <a:cs typeface="Times New Roman" panose="02020603050405020304" pitchFamily="18" charset="0"/>
              </a:rPr>
              <a:t>searchName</a:t>
            </a:r>
            <a:r>
              <a:rPr lang="en-IN" dirty="0">
                <a:latin typeface="Times New Roman" panose="02020603050405020304" pitchFamily="18" charset="0"/>
                <a:cs typeface="Times New Roman" panose="02020603050405020304" pitchFamily="18" charset="0"/>
              </a:rPr>
              <a:t> </a:t>
            </a:r>
          </a:p>
          <a:p>
            <a:pPr marL="0" indent="0">
              <a:buNone/>
            </a:pPr>
            <a:r>
              <a:rPr lang="en-IN" dirty="0">
                <a:latin typeface="Times New Roman" panose="02020603050405020304" pitchFamily="18" charset="0"/>
                <a:cs typeface="Times New Roman" panose="02020603050405020304" pitchFamily="18" charset="0"/>
              </a:rPr>
              <a:t>Call </a:t>
            </a:r>
            <a:r>
              <a:rPr lang="en-IN" dirty="0" err="1">
                <a:latin typeface="Times New Roman" panose="02020603050405020304" pitchFamily="18" charset="0"/>
                <a:cs typeface="Times New Roman" panose="02020603050405020304" pitchFamily="18" charset="0"/>
              </a:rPr>
              <a:t>searchItem</a:t>
            </a:r>
            <a:r>
              <a:rPr lang="en-IN" dirty="0">
                <a:latin typeface="Times New Roman" panose="02020603050405020304" pitchFamily="18" charset="0"/>
                <a:cs typeface="Times New Roman" panose="02020603050405020304" pitchFamily="18" charset="0"/>
              </a:rPr>
              <a:t>(cart, </a:t>
            </a:r>
            <a:r>
              <a:rPr lang="en-IN" dirty="0" err="1">
                <a:latin typeface="Times New Roman" panose="02020603050405020304" pitchFamily="18" charset="0"/>
                <a:cs typeface="Times New Roman" panose="02020603050405020304" pitchFamily="18" charset="0"/>
              </a:rPr>
              <a:t>searchName</a:t>
            </a:r>
            <a:r>
              <a:rPr lang="en-IN" dirty="0">
                <a:latin typeface="Times New Roman" panose="02020603050405020304" pitchFamily="18" charset="0"/>
                <a:cs typeface="Times New Roman" panose="02020603050405020304" pitchFamily="18" charset="0"/>
              </a:rPr>
              <a:t>)</a:t>
            </a:r>
          </a:p>
          <a:p>
            <a:pPr marL="0" indent="0">
              <a:buNone/>
            </a:pPr>
            <a:r>
              <a:rPr lang="en-IN" dirty="0">
                <a:latin typeface="Times New Roman" panose="02020603050405020304" pitchFamily="18" charset="0"/>
                <a:cs typeface="Times New Roman" panose="02020603050405020304" pitchFamily="18" charset="0"/>
              </a:rPr>
              <a:t> Break</a:t>
            </a:r>
          </a:p>
          <a:p>
            <a:pPr marL="0" indent="0">
              <a:buNone/>
            </a:pPr>
            <a:r>
              <a:rPr lang="en-IN" dirty="0">
                <a:latin typeface="Times New Roman" panose="02020603050405020304" pitchFamily="18" charset="0"/>
                <a:cs typeface="Times New Roman" panose="02020603050405020304" pitchFamily="18" charset="0"/>
              </a:rPr>
              <a:t> </a:t>
            </a:r>
          </a:p>
        </p:txBody>
      </p:sp>
      <p:sp>
        <p:nvSpPr>
          <p:cNvPr id="4" name="Slide Number Placeholder 3">
            <a:extLst>
              <a:ext uri="{FF2B5EF4-FFF2-40B4-BE49-F238E27FC236}">
                <a16:creationId xmlns:a16="http://schemas.microsoft.com/office/drawing/2014/main" id="{FB3AFA8A-C20D-1D52-78D3-68C68BAA26CB}"/>
              </a:ext>
            </a:extLst>
          </p:cNvPr>
          <p:cNvSpPr>
            <a:spLocks noGrp="1"/>
          </p:cNvSpPr>
          <p:nvPr>
            <p:ph type="sldNum" sz="quarter" idx="12"/>
          </p:nvPr>
        </p:nvSpPr>
        <p:spPr/>
        <p:txBody>
          <a:bodyPr/>
          <a:lstStyle/>
          <a:p>
            <a:fld id="{25F51578-6835-4416-9DA3-8DC2171AF31D}" type="slidenum">
              <a:rPr lang="en-IN" smtClean="0"/>
              <a:t>18</a:t>
            </a:fld>
            <a:endParaRPr lang="en-IN"/>
          </a:p>
        </p:txBody>
      </p:sp>
    </p:spTree>
    <p:extLst>
      <p:ext uri="{BB962C8B-B14F-4D97-AF65-F5344CB8AC3E}">
        <p14:creationId xmlns:p14="http://schemas.microsoft.com/office/powerpoint/2010/main" val="16673690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AE6B66-0FF0-3771-7F0F-95DC38F64C04}"/>
              </a:ext>
            </a:extLst>
          </p:cNvPr>
          <p:cNvSpPr>
            <a:spLocks noGrp="1"/>
          </p:cNvSpPr>
          <p:nvPr>
            <p:ph idx="1"/>
          </p:nvPr>
        </p:nvSpPr>
        <p:spPr>
          <a:xfrm>
            <a:off x="1066800" y="411480"/>
            <a:ext cx="10058400" cy="5623560"/>
          </a:xfrm>
        </p:spPr>
        <p:txBody>
          <a:bodyPr/>
          <a:lstStyle/>
          <a:p>
            <a:pPr marL="0" indent="0">
              <a:buNone/>
            </a:pPr>
            <a:r>
              <a:rPr lang="en-IN" dirty="0">
                <a:latin typeface="Times New Roman" panose="02020603050405020304" pitchFamily="18" charset="0"/>
                <a:cs typeface="Times New Roman" panose="02020603050405020304" pitchFamily="18" charset="0"/>
              </a:rPr>
              <a:t>Case 11: </a:t>
            </a:r>
          </a:p>
          <a:p>
            <a:pPr marL="0" indent="0">
              <a:buNone/>
            </a:pPr>
            <a:r>
              <a:rPr lang="en-IN" dirty="0">
                <a:latin typeface="Times New Roman" panose="02020603050405020304" pitchFamily="18" charset="0"/>
                <a:cs typeface="Times New Roman" panose="02020603050405020304" pitchFamily="18" charset="0"/>
              </a:rPr>
              <a:t>Print "Exiting... Thank you!“</a:t>
            </a:r>
          </a:p>
          <a:p>
            <a:pPr marL="0" indent="0">
              <a:buNone/>
            </a:pPr>
            <a:r>
              <a:rPr lang="en-IN" dirty="0">
                <a:latin typeface="Times New Roman" panose="02020603050405020304" pitchFamily="18" charset="0"/>
                <a:cs typeface="Times New Roman" panose="02020603050405020304" pitchFamily="18" charset="0"/>
              </a:rPr>
              <a:t> Break</a:t>
            </a:r>
          </a:p>
          <a:p>
            <a:pPr marL="0" indent="0">
              <a:buNone/>
            </a:pPr>
            <a:r>
              <a:rPr lang="en-IN" dirty="0">
                <a:latin typeface="Times New Roman" panose="02020603050405020304" pitchFamily="18" charset="0"/>
                <a:cs typeface="Times New Roman" panose="02020603050405020304" pitchFamily="18" charset="0"/>
              </a:rPr>
              <a:t> Default: </a:t>
            </a:r>
          </a:p>
          <a:p>
            <a:pPr marL="0" indent="0">
              <a:buNone/>
            </a:pPr>
            <a:r>
              <a:rPr lang="en-IN" dirty="0">
                <a:latin typeface="Times New Roman" panose="02020603050405020304" pitchFamily="18" charset="0"/>
                <a:cs typeface="Times New Roman" panose="02020603050405020304" pitchFamily="18" charset="0"/>
              </a:rPr>
              <a:t>Print "Invalid choice. </a:t>
            </a:r>
          </a:p>
          <a:p>
            <a:pPr marL="0" indent="0">
              <a:buNone/>
            </a:pPr>
            <a:r>
              <a:rPr lang="en-IN" dirty="0">
                <a:latin typeface="Times New Roman" panose="02020603050405020304" pitchFamily="18" charset="0"/>
                <a:cs typeface="Times New Roman" panose="02020603050405020304" pitchFamily="18" charset="0"/>
              </a:rPr>
              <a:t>Please try again.</a:t>
            </a:r>
          </a:p>
          <a:p>
            <a:pPr marL="0" indent="0">
              <a:buNone/>
            </a:pPr>
            <a:r>
              <a:rPr lang="en-IN" dirty="0">
                <a:latin typeface="Times New Roman" panose="02020603050405020304" pitchFamily="18" charset="0"/>
                <a:cs typeface="Times New Roman" panose="02020603050405020304" pitchFamily="18" charset="0"/>
              </a:rPr>
              <a:t>" Until choice == 11 </a:t>
            </a:r>
          </a:p>
          <a:p>
            <a:pPr marL="0" indent="0">
              <a:buNone/>
            </a:pPr>
            <a:r>
              <a:rPr lang="en-IN" dirty="0">
                <a:latin typeface="Times New Roman" panose="02020603050405020304" pitchFamily="18" charset="0"/>
                <a:cs typeface="Times New Roman" panose="02020603050405020304" pitchFamily="18" charset="0"/>
              </a:rPr>
              <a:t>End</a:t>
            </a:r>
          </a:p>
          <a:p>
            <a:pPr marL="0" indent="0">
              <a:buNone/>
            </a:pPr>
            <a:endParaRPr lang="en-IN" dirty="0"/>
          </a:p>
        </p:txBody>
      </p:sp>
      <p:sp>
        <p:nvSpPr>
          <p:cNvPr id="4" name="Slide Number Placeholder 3">
            <a:extLst>
              <a:ext uri="{FF2B5EF4-FFF2-40B4-BE49-F238E27FC236}">
                <a16:creationId xmlns:a16="http://schemas.microsoft.com/office/drawing/2014/main" id="{4BE4AFC7-12E0-3592-43FE-978FFB1FE374}"/>
              </a:ext>
            </a:extLst>
          </p:cNvPr>
          <p:cNvSpPr>
            <a:spLocks noGrp="1"/>
          </p:cNvSpPr>
          <p:nvPr>
            <p:ph type="sldNum" sz="quarter" idx="12"/>
          </p:nvPr>
        </p:nvSpPr>
        <p:spPr/>
        <p:txBody>
          <a:bodyPr/>
          <a:lstStyle/>
          <a:p>
            <a:fld id="{25F51578-6835-4416-9DA3-8DC2171AF31D}" type="slidenum">
              <a:rPr lang="en-IN" smtClean="0"/>
              <a:t>19</a:t>
            </a:fld>
            <a:endParaRPr lang="en-IN"/>
          </a:p>
        </p:txBody>
      </p:sp>
    </p:spTree>
    <p:extLst>
      <p:ext uri="{BB962C8B-B14F-4D97-AF65-F5344CB8AC3E}">
        <p14:creationId xmlns:p14="http://schemas.microsoft.com/office/powerpoint/2010/main" val="15808311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0E523-2383-59CF-1439-55B0FECA0260}"/>
              </a:ext>
            </a:extLst>
          </p:cNvPr>
          <p:cNvSpPr>
            <a:spLocks noGrp="1"/>
          </p:cNvSpPr>
          <p:nvPr>
            <p:ph type="title"/>
          </p:nvPr>
        </p:nvSpPr>
        <p:spPr/>
        <p:txBody>
          <a:bodyPr>
            <a:normAutofit/>
          </a:bodyPr>
          <a:lstStyle/>
          <a:p>
            <a:pPr algn="ctr"/>
            <a:r>
              <a:rPr lang="en-IN" b="1" dirty="0">
                <a:latin typeface="Times New Roman" panose="02020603050405020304" pitchFamily="18" charset="0"/>
                <a:cs typeface="Times New Roman" panose="02020603050405020304" pitchFamily="18" charset="0"/>
              </a:rPr>
              <a:t>CHAPTER 4 </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IMPLEMENTATION </a:t>
            </a:r>
          </a:p>
        </p:txBody>
      </p:sp>
      <p:sp>
        <p:nvSpPr>
          <p:cNvPr id="3" name="Content Placeholder 2">
            <a:extLst>
              <a:ext uri="{FF2B5EF4-FFF2-40B4-BE49-F238E27FC236}">
                <a16:creationId xmlns:a16="http://schemas.microsoft.com/office/drawing/2014/main" id="{AEADD1C0-5B96-73AE-E316-B3CFD50CD5E0}"/>
              </a:ext>
            </a:extLst>
          </p:cNvPr>
          <p:cNvSpPr>
            <a:spLocks noGrp="1"/>
          </p:cNvSpPr>
          <p:nvPr>
            <p:ph idx="1"/>
          </p:nvPr>
        </p:nvSpPr>
        <p:spPr/>
        <p:txBody>
          <a:bodyPr>
            <a:normAutofit fontScale="92500" lnSpcReduction="10000"/>
          </a:bodyPr>
          <a:lstStyle/>
          <a:p>
            <a:pPr marL="0" indent="0">
              <a:buNone/>
            </a:pPr>
            <a:r>
              <a:rPr lang="en-US" b="1" dirty="0">
                <a:latin typeface="Times New Roman" panose="02020603050405020304" pitchFamily="18" charset="0"/>
                <a:cs typeface="Times New Roman" panose="02020603050405020304" pitchFamily="18" charset="0"/>
              </a:rPr>
              <a:t>4.1 Programming Language Used :-</a:t>
            </a:r>
          </a:p>
          <a:p>
            <a:pPr marL="0" indent="0">
              <a:buNone/>
            </a:pPr>
            <a:r>
              <a:rPr lang="en-US" dirty="0">
                <a:latin typeface="Times New Roman" panose="02020603050405020304" pitchFamily="18" charset="0"/>
                <a:cs typeface="Times New Roman" panose="02020603050405020304" pitchFamily="18" charset="0"/>
              </a:rPr>
              <a:t> The programming language used for the code you provided is C. Specifically, it utilizes features such as: </a:t>
            </a:r>
          </a:p>
          <a:p>
            <a:pPr marL="0" indent="0">
              <a:buNone/>
            </a:pPr>
            <a:r>
              <a:rPr lang="en-US" dirty="0">
                <a:latin typeface="Times New Roman" panose="02020603050405020304" pitchFamily="18" charset="0"/>
                <a:cs typeface="Times New Roman" panose="02020603050405020304" pitchFamily="18" charset="0"/>
              </a:rPr>
              <a:t>• Structures (struct) to represent data types like Item and Customer. </a:t>
            </a:r>
          </a:p>
          <a:p>
            <a:pPr marL="0" indent="0">
              <a:buNone/>
            </a:pPr>
            <a:r>
              <a:rPr lang="en-US" dirty="0">
                <a:latin typeface="Times New Roman" panose="02020603050405020304" pitchFamily="18" charset="0"/>
                <a:cs typeface="Times New Roman" panose="02020603050405020304" pitchFamily="18" charset="0"/>
              </a:rPr>
              <a:t>• Arrays to store collections of items and customer data. </a:t>
            </a:r>
          </a:p>
          <a:p>
            <a:pPr marL="0" indent="0">
              <a:buNone/>
            </a:pPr>
            <a:r>
              <a:rPr lang="en-US" dirty="0">
                <a:latin typeface="Times New Roman" panose="02020603050405020304" pitchFamily="18" charset="0"/>
                <a:cs typeface="Times New Roman" panose="02020603050405020304" pitchFamily="18" charset="0"/>
              </a:rPr>
              <a:t>• Stacks (implemented using an array) to manage the shopping cart functionality. </a:t>
            </a:r>
          </a:p>
          <a:p>
            <a:pPr marL="0" indent="0">
              <a:buNone/>
            </a:pPr>
            <a:r>
              <a:rPr lang="en-US" dirty="0">
                <a:latin typeface="Times New Roman" panose="02020603050405020304" pitchFamily="18" charset="0"/>
                <a:cs typeface="Times New Roman" panose="02020603050405020304" pitchFamily="18" charset="0"/>
              </a:rPr>
              <a:t>• Basic input/output functions like </a:t>
            </a:r>
            <a:r>
              <a:rPr lang="en-US" dirty="0" err="1">
                <a:latin typeface="Times New Roman" panose="02020603050405020304" pitchFamily="18" charset="0"/>
                <a:cs typeface="Times New Roman" panose="02020603050405020304" pitchFamily="18" charset="0"/>
              </a:rPr>
              <a:t>scanf</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printf</a:t>
            </a:r>
            <a:r>
              <a:rPr lang="en-US" dirty="0">
                <a:latin typeface="Times New Roman" panose="02020603050405020304" pitchFamily="18" charset="0"/>
                <a:cs typeface="Times New Roman" panose="02020603050405020304" pitchFamily="18" charset="0"/>
              </a:rPr>
              <a:t> for user interaction. The program is designed to simulate an e-commerce shopping cart system with functions to manage the cart, display discounts, generate bills, and handle customer details. </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000EB14-D166-7B11-18F1-62F60EB01B7D}"/>
              </a:ext>
            </a:extLst>
          </p:cNvPr>
          <p:cNvSpPr>
            <a:spLocks noGrp="1"/>
          </p:cNvSpPr>
          <p:nvPr>
            <p:ph type="sldNum" sz="quarter" idx="12"/>
          </p:nvPr>
        </p:nvSpPr>
        <p:spPr/>
        <p:txBody>
          <a:bodyPr/>
          <a:lstStyle/>
          <a:p>
            <a:fld id="{25F51578-6835-4416-9DA3-8DC2171AF31D}" type="slidenum">
              <a:rPr lang="en-IN" smtClean="0"/>
              <a:t>20</a:t>
            </a:fld>
            <a:endParaRPr lang="en-IN"/>
          </a:p>
        </p:txBody>
      </p:sp>
    </p:spTree>
    <p:extLst>
      <p:ext uri="{BB962C8B-B14F-4D97-AF65-F5344CB8AC3E}">
        <p14:creationId xmlns:p14="http://schemas.microsoft.com/office/powerpoint/2010/main" val="35259559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6252C5-B4B8-8E1F-BAA0-D7D4D825B47C}"/>
              </a:ext>
            </a:extLst>
          </p:cNvPr>
          <p:cNvSpPr>
            <a:spLocks noGrp="1"/>
          </p:cNvSpPr>
          <p:nvPr>
            <p:ph idx="1"/>
          </p:nvPr>
        </p:nvSpPr>
        <p:spPr>
          <a:xfrm>
            <a:off x="1066800" y="762000"/>
            <a:ext cx="10058400" cy="5684520"/>
          </a:xfrm>
        </p:spPr>
        <p:txBody>
          <a:bodyPr/>
          <a:lstStyle/>
          <a:p>
            <a:pPr marL="0" indent="0">
              <a:buNone/>
            </a:pPr>
            <a:r>
              <a:rPr lang="en-US" b="1" dirty="0">
                <a:latin typeface="Times New Roman" panose="02020603050405020304" pitchFamily="18" charset="0"/>
                <a:cs typeface="Times New Roman" panose="02020603050405020304" pitchFamily="18" charset="0"/>
              </a:rPr>
              <a:t>4.2Explanation Of Key Functions:- </a:t>
            </a:r>
          </a:p>
          <a:p>
            <a:pPr marL="0" indent="0">
              <a:buNone/>
            </a:pPr>
            <a:r>
              <a:rPr lang="en-US" dirty="0">
                <a:latin typeface="Times New Roman" panose="02020603050405020304" pitchFamily="18" charset="0"/>
                <a:cs typeface="Times New Roman" panose="02020603050405020304" pitchFamily="18" charset="0"/>
              </a:rPr>
              <a:t>1.initialize(struct Stack *s) </a:t>
            </a:r>
          </a:p>
          <a:p>
            <a:pPr marL="0" indent="0">
              <a:buNone/>
            </a:pPr>
            <a:r>
              <a:rPr lang="en-US" dirty="0">
                <a:latin typeface="Times New Roman" panose="02020603050405020304" pitchFamily="18" charset="0"/>
                <a:cs typeface="Times New Roman" panose="02020603050405020304" pitchFamily="18" charset="0"/>
              </a:rPr>
              <a:t>2. </a:t>
            </a:r>
            <a:r>
              <a:rPr lang="en-US" dirty="0" err="1">
                <a:latin typeface="Times New Roman" panose="02020603050405020304" pitchFamily="18" charset="0"/>
                <a:cs typeface="Times New Roman" panose="02020603050405020304" pitchFamily="18" charset="0"/>
              </a:rPr>
              <a:t>isFull</a:t>
            </a:r>
            <a:r>
              <a:rPr lang="en-US" dirty="0">
                <a:latin typeface="Times New Roman" panose="02020603050405020304" pitchFamily="18" charset="0"/>
                <a:cs typeface="Times New Roman" panose="02020603050405020304" pitchFamily="18" charset="0"/>
              </a:rPr>
              <a:t>(struct Stack *s)</a:t>
            </a:r>
          </a:p>
          <a:p>
            <a:pPr marL="0" indent="0">
              <a:buNone/>
            </a:pPr>
            <a:r>
              <a:rPr lang="en-US" dirty="0">
                <a:latin typeface="Times New Roman" panose="02020603050405020304" pitchFamily="18" charset="0"/>
                <a:cs typeface="Times New Roman" panose="02020603050405020304" pitchFamily="18" charset="0"/>
              </a:rPr>
              <a:t>3. </a:t>
            </a:r>
            <a:r>
              <a:rPr lang="en-US" dirty="0" err="1">
                <a:latin typeface="Times New Roman" panose="02020603050405020304" pitchFamily="18" charset="0"/>
                <a:cs typeface="Times New Roman" panose="02020603050405020304" pitchFamily="18" charset="0"/>
              </a:rPr>
              <a:t>isEmpty</a:t>
            </a:r>
            <a:r>
              <a:rPr lang="en-US" dirty="0">
                <a:latin typeface="Times New Roman" panose="02020603050405020304" pitchFamily="18" charset="0"/>
                <a:cs typeface="Times New Roman" panose="02020603050405020304" pitchFamily="18" charset="0"/>
              </a:rPr>
              <a:t>(struct Stack *s) </a:t>
            </a:r>
          </a:p>
          <a:p>
            <a:pPr marL="0" indent="0">
              <a:buNone/>
            </a:pPr>
            <a:r>
              <a:rPr lang="en-US" dirty="0">
                <a:latin typeface="Times New Roman" panose="02020603050405020304" pitchFamily="18" charset="0"/>
                <a:cs typeface="Times New Roman" panose="02020603050405020304" pitchFamily="18" charset="0"/>
              </a:rPr>
              <a:t>4. push(struct Stack *s, struct Item item) </a:t>
            </a:r>
          </a:p>
          <a:p>
            <a:pPr marL="0" indent="0">
              <a:buNone/>
            </a:pPr>
            <a:r>
              <a:rPr lang="en-US" dirty="0">
                <a:latin typeface="Times New Roman" panose="02020603050405020304" pitchFamily="18" charset="0"/>
                <a:cs typeface="Times New Roman" panose="02020603050405020304" pitchFamily="18" charset="0"/>
              </a:rPr>
              <a:t>5. pop(struct Stack *s)</a:t>
            </a:r>
          </a:p>
          <a:p>
            <a:pPr marL="0" indent="0">
              <a:buNone/>
            </a:pPr>
            <a:r>
              <a:rPr lang="en-US" dirty="0">
                <a:latin typeface="Times New Roman" panose="02020603050405020304" pitchFamily="18" charset="0"/>
                <a:cs typeface="Times New Roman" panose="02020603050405020304" pitchFamily="18" charset="0"/>
              </a:rPr>
              <a:t>6. </a:t>
            </a:r>
            <a:r>
              <a:rPr lang="en-US" dirty="0" err="1">
                <a:latin typeface="Times New Roman" panose="02020603050405020304" pitchFamily="18" charset="0"/>
                <a:cs typeface="Times New Roman" panose="02020603050405020304" pitchFamily="18" charset="0"/>
              </a:rPr>
              <a:t>displayCart</a:t>
            </a:r>
            <a:r>
              <a:rPr lang="en-US" dirty="0">
                <a:latin typeface="Times New Roman" panose="02020603050405020304" pitchFamily="18" charset="0"/>
                <a:cs typeface="Times New Roman" panose="02020603050405020304" pitchFamily="18" charset="0"/>
              </a:rPr>
              <a:t>(struct Stack *s)</a:t>
            </a:r>
          </a:p>
          <a:p>
            <a:pPr marL="0" indent="0">
              <a:buNone/>
            </a:pPr>
            <a:r>
              <a:rPr lang="en-IN" dirty="0">
                <a:latin typeface="Times New Roman" panose="02020603050405020304" pitchFamily="18" charset="0"/>
                <a:cs typeface="Times New Roman" panose="02020603050405020304" pitchFamily="18" charset="0"/>
              </a:rPr>
              <a:t>7. </a:t>
            </a:r>
            <a:r>
              <a:rPr lang="en-IN" dirty="0" err="1">
                <a:latin typeface="Times New Roman" panose="02020603050405020304" pitchFamily="18" charset="0"/>
                <a:cs typeface="Times New Roman" panose="02020603050405020304" pitchFamily="18" charset="0"/>
              </a:rPr>
              <a:t>displayCustomerDetails</a:t>
            </a:r>
            <a:r>
              <a:rPr lang="en-IN"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8. </a:t>
            </a:r>
            <a:r>
              <a:rPr lang="en-IN" dirty="0" err="1">
                <a:latin typeface="Times New Roman" panose="02020603050405020304" pitchFamily="18" charset="0"/>
                <a:cs typeface="Times New Roman" panose="02020603050405020304" pitchFamily="18" charset="0"/>
              </a:rPr>
              <a:t>displayDiscounts</a:t>
            </a:r>
            <a:r>
              <a:rPr lang="en-IN"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9. </a:t>
            </a:r>
            <a:r>
              <a:rPr lang="en-US" dirty="0" err="1">
                <a:latin typeface="Times New Roman" panose="02020603050405020304" pitchFamily="18" charset="0"/>
                <a:cs typeface="Times New Roman" panose="02020603050405020304" pitchFamily="18" charset="0"/>
              </a:rPr>
              <a:t>generateBillFromCart</a:t>
            </a:r>
            <a:r>
              <a:rPr lang="en-US" dirty="0">
                <a:latin typeface="Times New Roman" panose="02020603050405020304" pitchFamily="18" charset="0"/>
                <a:cs typeface="Times New Roman" panose="02020603050405020304" pitchFamily="18" charset="0"/>
              </a:rPr>
              <a:t>(struct Stack *s) </a:t>
            </a:r>
          </a:p>
          <a:p>
            <a:pPr marL="0" indent="0">
              <a:buNone/>
            </a:pPr>
            <a:r>
              <a:rPr lang="en-IN" dirty="0">
                <a:latin typeface="Times New Roman" panose="02020603050405020304" pitchFamily="18" charset="0"/>
                <a:cs typeface="Times New Roman" panose="02020603050405020304" pitchFamily="18" charset="0"/>
              </a:rPr>
              <a:t>10. main()</a:t>
            </a: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51F0487-1415-C5E7-9107-9A1DBC402D22}"/>
              </a:ext>
            </a:extLst>
          </p:cNvPr>
          <p:cNvSpPr>
            <a:spLocks noGrp="1"/>
          </p:cNvSpPr>
          <p:nvPr>
            <p:ph type="sldNum" sz="quarter" idx="12"/>
          </p:nvPr>
        </p:nvSpPr>
        <p:spPr/>
        <p:txBody>
          <a:bodyPr/>
          <a:lstStyle/>
          <a:p>
            <a:fld id="{25F51578-6835-4416-9DA3-8DC2171AF31D}" type="slidenum">
              <a:rPr lang="en-IN" smtClean="0"/>
              <a:t>21</a:t>
            </a:fld>
            <a:endParaRPr lang="en-IN"/>
          </a:p>
        </p:txBody>
      </p:sp>
    </p:spTree>
    <p:extLst>
      <p:ext uri="{BB962C8B-B14F-4D97-AF65-F5344CB8AC3E}">
        <p14:creationId xmlns:p14="http://schemas.microsoft.com/office/powerpoint/2010/main" val="27683061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BA929-397B-A966-612B-DC9207AFDC14}"/>
              </a:ext>
            </a:extLst>
          </p:cNvPr>
          <p:cNvSpPr>
            <a:spLocks noGrp="1"/>
          </p:cNvSpPr>
          <p:nvPr>
            <p:ph type="title"/>
          </p:nvPr>
        </p:nvSpPr>
        <p:spPr/>
        <p:txBody>
          <a:bodyPr>
            <a:normAutofit/>
          </a:bodyPr>
          <a:lstStyle/>
          <a:p>
            <a:pPr algn="ctr"/>
            <a:r>
              <a:rPr lang="en-US" b="1" dirty="0">
                <a:latin typeface="Times New Roman" panose="02020603050405020304" pitchFamily="18" charset="0"/>
                <a:cs typeface="Times New Roman" panose="02020603050405020304" pitchFamily="18" charset="0"/>
              </a:rPr>
              <a:t>CHAPTER 5</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 RESULTS AND DISCUSSIONS </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D9C1CAA-E29E-006C-3FBD-12364C1D14BD}"/>
              </a:ext>
            </a:extLst>
          </p:cNvPr>
          <p:cNvSpPr>
            <a:spLocks noGrp="1"/>
          </p:cNvSpPr>
          <p:nvPr>
            <p:ph idx="1"/>
          </p:nvPr>
        </p:nvSpPr>
        <p:spPr>
          <a:xfrm>
            <a:off x="1066800" y="2103120"/>
            <a:ext cx="10058400" cy="4478872"/>
          </a:xfrm>
        </p:spPr>
        <p:txBody>
          <a:bodyPr/>
          <a:lstStyle/>
          <a:p>
            <a:pPr marL="0" indent="0">
              <a:buNone/>
            </a:pPr>
            <a:r>
              <a:rPr lang="en-US" b="1" dirty="0">
                <a:latin typeface="Times New Roman" panose="02020603050405020304" pitchFamily="18" charset="0"/>
                <a:cs typeface="Times New Roman" panose="02020603050405020304" pitchFamily="18" charset="0"/>
              </a:rPr>
              <a:t>5.1 Input and Output Screenshots of Results with Explanation :- </a:t>
            </a:r>
          </a:p>
          <a:p>
            <a:pPr marL="0" indent="0">
              <a:buNone/>
            </a:pPr>
            <a:endParaRPr lang="en-IN"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03987AF-5D69-3434-338A-3968F1AD3CD2}"/>
              </a:ext>
            </a:extLst>
          </p:cNvPr>
          <p:cNvSpPr>
            <a:spLocks noGrp="1"/>
          </p:cNvSpPr>
          <p:nvPr>
            <p:ph type="sldNum" sz="quarter" idx="12"/>
          </p:nvPr>
        </p:nvSpPr>
        <p:spPr/>
        <p:txBody>
          <a:bodyPr/>
          <a:lstStyle/>
          <a:p>
            <a:fld id="{25F51578-6835-4416-9DA3-8DC2171AF31D}" type="slidenum">
              <a:rPr lang="en-IN" smtClean="0"/>
              <a:t>22</a:t>
            </a:fld>
            <a:endParaRPr lang="en-IN"/>
          </a:p>
        </p:txBody>
      </p:sp>
      <p:pic>
        <p:nvPicPr>
          <p:cNvPr id="6" name="Picture 5">
            <a:extLst>
              <a:ext uri="{FF2B5EF4-FFF2-40B4-BE49-F238E27FC236}">
                <a16:creationId xmlns:a16="http://schemas.microsoft.com/office/drawing/2014/main" id="{2AFEE62A-72BF-DC62-834B-108E11C84A46}"/>
              </a:ext>
            </a:extLst>
          </p:cNvPr>
          <p:cNvPicPr>
            <a:picLocks noChangeAspect="1"/>
          </p:cNvPicPr>
          <p:nvPr/>
        </p:nvPicPr>
        <p:blipFill>
          <a:blip r:embed="rId2"/>
          <a:stretch>
            <a:fillRect/>
          </a:stretch>
        </p:blipFill>
        <p:spPr>
          <a:xfrm>
            <a:off x="3579169" y="2542974"/>
            <a:ext cx="3857951" cy="3873066"/>
          </a:xfrm>
          <a:prstGeom prst="rect">
            <a:avLst/>
          </a:prstGeom>
        </p:spPr>
      </p:pic>
    </p:spTree>
    <p:extLst>
      <p:ext uri="{BB962C8B-B14F-4D97-AF65-F5344CB8AC3E}">
        <p14:creationId xmlns:p14="http://schemas.microsoft.com/office/powerpoint/2010/main" val="13625580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DFBAF9B0-FBD8-184E-E1D1-977D76145238}"/>
              </a:ext>
            </a:extLst>
          </p:cNvPr>
          <p:cNvPicPr>
            <a:picLocks noGrp="1" noChangeAspect="1"/>
          </p:cNvPicPr>
          <p:nvPr>
            <p:ph idx="1"/>
          </p:nvPr>
        </p:nvPicPr>
        <p:blipFill>
          <a:blip r:embed="rId2"/>
          <a:stretch>
            <a:fillRect/>
          </a:stretch>
        </p:blipFill>
        <p:spPr>
          <a:xfrm>
            <a:off x="781971" y="528972"/>
            <a:ext cx="4082877" cy="5538787"/>
          </a:xfrm>
        </p:spPr>
      </p:pic>
      <p:sp>
        <p:nvSpPr>
          <p:cNvPr id="4" name="Slide Number Placeholder 3">
            <a:extLst>
              <a:ext uri="{FF2B5EF4-FFF2-40B4-BE49-F238E27FC236}">
                <a16:creationId xmlns:a16="http://schemas.microsoft.com/office/drawing/2014/main" id="{589D06FF-1CE4-C397-90A3-B9A07CC1BA22}"/>
              </a:ext>
            </a:extLst>
          </p:cNvPr>
          <p:cNvSpPr>
            <a:spLocks noGrp="1"/>
          </p:cNvSpPr>
          <p:nvPr>
            <p:ph type="sldNum" sz="quarter" idx="12"/>
          </p:nvPr>
        </p:nvSpPr>
        <p:spPr/>
        <p:txBody>
          <a:bodyPr/>
          <a:lstStyle/>
          <a:p>
            <a:fld id="{25F51578-6835-4416-9DA3-8DC2171AF31D}" type="slidenum">
              <a:rPr lang="en-IN" smtClean="0"/>
              <a:t>23</a:t>
            </a:fld>
            <a:endParaRPr lang="en-IN"/>
          </a:p>
        </p:txBody>
      </p:sp>
      <p:pic>
        <p:nvPicPr>
          <p:cNvPr id="8" name="Picture 7">
            <a:extLst>
              <a:ext uri="{FF2B5EF4-FFF2-40B4-BE49-F238E27FC236}">
                <a16:creationId xmlns:a16="http://schemas.microsoft.com/office/drawing/2014/main" id="{BE6C0837-7F94-324B-9DD2-3FDDFB2C912D}"/>
              </a:ext>
            </a:extLst>
          </p:cNvPr>
          <p:cNvPicPr>
            <a:picLocks noChangeAspect="1"/>
          </p:cNvPicPr>
          <p:nvPr/>
        </p:nvPicPr>
        <p:blipFill>
          <a:blip r:embed="rId3"/>
          <a:stretch>
            <a:fillRect/>
          </a:stretch>
        </p:blipFill>
        <p:spPr>
          <a:xfrm>
            <a:off x="6096000" y="528971"/>
            <a:ext cx="4876800" cy="5538787"/>
          </a:xfrm>
          <a:prstGeom prst="rect">
            <a:avLst/>
          </a:prstGeom>
        </p:spPr>
      </p:pic>
    </p:spTree>
    <p:extLst>
      <p:ext uri="{BB962C8B-B14F-4D97-AF65-F5344CB8AC3E}">
        <p14:creationId xmlns:p14="http://schemas.microsoft.com/office/powerpoint/2010/main" val="11448934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9240DF48-6CAC-4589-5DA9-A9FCAB8B84C7}"/>
              </a:ext>
            </a:extLst>
          </p:cNvPr>
          <p:cNvPicPr>
            <a:picLocks noGrp="1" noChangeAspect="1"/>
          </p:cNvPicPr>
          <p:nvPr>
            <p:ph idx="1"/>
          </p:nvPr>
        </p:nvPicPr>
        <p:blipFill>
          <a:blip r:embed="rId2"/>
          <a:stretch>
            <a:fillRect/>
          </a:stretch>
        </p:blipFill>
        <p:spPr>
          <a:xfrm>
            <a:off x="416864" y="457555"/>
            <a:ext cx="4744112" cy="4020111"/>
          </a:xfrm>
        </p:spPr>
      </p:pic>
      <p:sp>
        <p:nvSpPr>
          <p:cNvPr id="4" name="Slide Number Placeholder 3">
            <a:extLst>
              <a:ext uri="{FF2B5EF4-FFF2-40B4-BE49-F238E27FC236}">
                <a16:creationId xmlns:a16="http://schemas.microsoft.com/office/drawing/2014/main" id="{0A6B5E06-45F5-3FEA-7F5A-71932359F17F}"/>
              </a:ext>
            </a:extLst>
          </p:cNvPr>
          <p:cNvSpPr>
            <a:spLocks noGrp="1"/>
          </p:cNvSpPr>
          <p:nvPr>
            <p:ph type="sldNum" sz="quarter" idx="12"/>
          </p:nvPr>
        </p:nvSpPr>
        <p:spPr/>
        <p:txBody>
          <a:bodyPr/>
          <a:lstStyle/>
          <a:p>
            <a:fld id="{25F51578-6835-4416-9DA3-8DC2171AF31D}" type="slidenum">
              <a:rPr lang="en-IN" smtClean="0"/>
              <a:t>24</a:t>
            </a:fld>
            <a:endParaRPr lang="en-IN"/>
          </a:p>
        </p:txBody>
      </p:sp>
      <p:pic>
        <p:nvPicPr>
          <p:cNvPr id="8" name="Picture 7">
            <a:extLst>
              <a:ext uri="{FF2B5EF4-FFF2-40B4-BE49-F238E27FC236}">
                <a16:creationId xmlns:a16="http://schemas.microsoft.com/office/drawing/2014/main" id="{0D05F13D-37AC-AEEC-676B-0E008A887A89}"/>
              </a:ext>
            </a:extLst>
          </p:cNvPr>
          <p:cNvPicPr>
            <a:picLocks noChangeAspect="1"/>
          </p:cNvPicPr>
          <p:nvPr/>
        </p:nvPicPr>
        <p:blipFill>
          <a:blip r:embed="rId3"/>
          <a:stretch>
            <a:fillRect/>
          </a:stretch>
        </p:blipFill>
        <p:spPr>
          <a:xfrm>
            <a:off x="5553694" y="457555"/>
            <a:ext cx="4772691" cy="2924583"/>
          </a:xfrm>
          <a:prstGeom prst="rect">
            <a:avLst/>
          </a:prstGeom>
        </p:spPr>
      </p:pic>
    </p:spTree>
    <p:extLst>
      <p:ext uri="{BB962C8B-B14F-4D97-AF65-F5344CB8AC3E}">
        <p14:creationId xmlns:p14="http://schemas.microsoft.com/office/powerpoint/2010/main" val="8011286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DD0D27A9-62AB-F22C-388F-FA472BA276F4}"/>
              </a:ext>
            </a:extLst>
          </p:cNvPr>
          <p:cNvPicPr>
            <a:picLocks noGrp="1" noChangeAspect="1"/>
          </p:cNvPicPr>
          <p:nvPr>
            <p:ph idx="1"/>
          </p:nvPr>
        </p:nvPicPr>
        <p:blipFill>
          <a:blip r:embed="rId2"/>
          <a:stretch>
            <a:fillRect/>
          </a:stretch>
        </p:blipFill>
        <p:spPr>
          <a:xfrm>
            <a:off x="734844" y="542131"/>
            <a:ext cx="3864312" cy="5773738"/>
          </a:xfrm>
        </p:spPr>
      </p:pic>
      <p:sp>
        <p:nvSpPr>
          <p:cNvPr id="4" name="Slide Number Placeholder 3">
            <a:extLst>
              <a:ext uri="{FF2B5EF4-FFF2-40B4-BE49-F238E27FC236}">
                <a16:creationId xmlns:a16="http://schemas.microsoft.com/office/drawing/2014/main" id="{91049C53-3262-E2C3-F71A-CE1A1475AB14}"/>
              </a:ext>
            </a:extLst>
          </p:cNvPr>
          <p:cNvSpPr>
            <a:spLocks noGrp="1"/>
          </p:cNvSpPr>
          <p:nvPr>
            <p:ph type="sldNum" sz="quarter" idx="12"/>
          </p:nvPr>
        </p:nvSpPr>
        <p:spPr/>
        <p:txBody>
          <a:bodyPr/>
          <a:lstStyle/>
          <a:p>
            <a:fld id="{25F51578-6835-4416-9DA3-8DC2171AF31D}" type="slidenum">
              <a:rPr lang="en-IN" smtClean="0"/>
              <a:t>25</a:t>
            </a:fld>
            <a:endParaRPr lang="en-IN"/>
          </a:p>
        </p:txBody>
      </p:sp>
      <p:pic>
        <p:nvPicPr>
          <p:cNvPr id="8" name="Picture 7">
            <a:extLst>
              <a:ext uri="{FF2B5EF4-FFF2-40B4-BE49-F238E27FC236}">
                <a16:creationId xmlns:a16="http://schemas.microsoft.com/office/drawing/2014/main" id="{300DEDCF-ECE9-7B3A-46C1-0FF86AA683F5}"/>
              </a:ext>
            </a:extLst>
          </p:cNvPr>
          <p:cNvPicPr>
            <a:picLocks noChangeAspect="1"/>
          </p:cNvPicPr>
          <p:nvPr/>
        </p:nvPicPr>
        <p:blipFill>
          <a:blip r:embed="rId3"/>
          <a:stretch>
            <a:fillRect/>
          </a:stretch>
        </p:blipFill>
        <p:spPr>
          <a:xfrm>
            <a:off x="5459214" y="542131"/>
            <a:ext cx="5386265" cy="5606632"/>
          </a:xfrm>
          <a:prstGeom prst="rect">
            <a:avLst/>
          </a:prstGeom>
        </p:spPr>
      </p:pic>
    </p:spTree>
    <p:extLst>
      <p:ext uri="{BB962C8B-B14F-4D97-AF65-F5344CB8AC3E}">
        <p14:creationId xmlns:p14="http://schemas.microsoft.com/office/powerpoint/2010/main" val="7162886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14687CF3-9DA3-0AC5-5416-BE39C7F9FEBE}"/>
              </a:ext>
            </a:extLst>
          </p:cNvPr>
          <p:cNvPicPr>
            <a:picLocks noGrp="1" noChangeAspect="1"/>
          </p:cNvPicPr>
          <p:nvPr>
            <p:ph idx="1"/>
          </p:nvPr>
        </p:nvPicPr>
        <p:blipFill>
          <a:blip r:embed="rId2"/>
          <a:stretch>
            <a:fillRect/>
          </a:stretch>
        </p:blipFill>
        <p:spPr>
          <a:xfrm>
            <a:off x="687223" y="1276200"/>
            <a:ext cx="4753638" cy="3353268"/>
          </a:xfrm>
        </p:spPr>
      </p:pic>
      <p:sp>
        <p:nvSpPr>
          <p:cNvPr id="4" name="Slide Number Placeholder 3">
            <a:extLst>
              <a:ext uri="{FF2B5EF4-FFF2-40B4-BE49-F238E27FC236}">
                <a16:creationId xmlns:a16="http://schemas.microsoft.com/office/drawing/2014/main" id="{FBD3CD5F-B85A-B7E7-FED4-12FEC97C3948}"/>
              </a:ext>
            </a:extLst>
          </p:cNvPr>
          <p:cNvSpPr>
            <a:spLocks noGrp="1"/>
          </p:cNvSpPr>
          <p:nvPr>
            <p:ph type="sldNum" sz="quarter" idx="12"/>
          </p:nvPr>
        </p:nvSpPr>
        <p:spPr/>
        <p:txBody>
          <a:bodyPr/>
          <a:lstStyle/>
          <a:p>
            <a:fld id="{25F51578-6835-4416-9DA3-8DC2171AF31D}" type="slidenum">
              <a:rPr lang="en-IN" smtClean="0"/>
              <a:t>26</a:t>
            </a:fld>
            <a:endParaRPr lang="en-IN"/>
          </a:p>
        </p:txBody>
      </p:sp>
      <p:pic>
        <p:nvPicPr>
          <p:cNvPr id="8" name="Picture 7">
            <a:extLst>
              <a:ext uri="{FF2B5EF4-FFF2-40B4-BE49-F238E27FC236}">
                <a16:creationId xmlns:a16="http://schemas.microsoft.com/office/drawing/2014/main" id="{5555AA2F-A91E-DEA8-2067-AC131BA719F1}"/>
              </a:ext>
            </a:extLst>
          </p:cNvPr>
          <p:cNvPicPr>
            <a:picLocks noChangeAspect="1"/>
          </p:cNvPicPr>
          <p:nvPr/>
        </p:nvPicPr>
        <p:blipFill>
          <a:blip r:embed="rId3"/>
          <a:stretch>
            <a:fillRect/>
          </a:stretch>
        </p:blipFill>
        <p:spPr>
          <a:xfrm>
            <a:off x="6751141" y="345782"/>
            <a:ext cx="4667901" cy="6099050"/>
          </a:xfrm>
          <a:prstGeom prst="rect">
            <a:avLst/>
          </a:prstGeom>
        </p:spPr>
      </p:pic>
    </p:spTree>
    <p:extLst>
      <p:ext uri="{BB962C8B-B14F-4D97-AF65-F5344CB8AC3E}">
        <p14:creationId xmlns:p14="http://schemas.microsoft.com/office/powerpoint/2010/main" val="23410090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687D3-83CB-FE3A-C6BB-EA6D3EFF9CEB}"/>
              </a:ext>
            </a:extLst>
          </p:cNvPr>
          <p:cNvSpPr>
            <a:spLocks noGrp="1"/>
          </p:cNvSpPr>
          <p:nvPr>
            <p:ph type="title"/>
          </p:nvPr>
        </p:nvSpPr>
        <p:spPr/>
        <p:txBody>
          <a:bodyPr>
            <a:normAutofit/>
          </a:bodyPr>
          <a:lstStyle/>
          <a:p>
            <a:pPr algn="ctr"/>
            <a:r>
              <a:rPr lang="en-US" b="1" dirty="0">
                <a:latin typeface="Times New Roman" panose="02020603050405020304" pitchFamily="18" charset="0"/>
                <a:cs typeface="Times New Roman" panose="02020603050405020304" pitchFamily="18" charset="0"/>
              </a:rPr>
              <a:t>CHAPTER 6</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 CONCLUSIONS AND FUTURE WORK </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39CAABC-E69C-FB9A-F61C-ABF8A1A95F2D}"/>
              </a:ext>
            </a:extLst>
          </p:cNvPr>
          <p:cNvSpPr>
            <a:spLocks noGrp="1"/>
          </p:cNvSpPr>
          <p:nvPr>
            <p:ph idx="1"/>
          </p:nvPr>
        </p:nvSpPr>
        <p:spPr/>
        <p:txBody>
          <a:bodyPr>
            <a:normAutofit fontScale="85000" lnSpcReduction="20000"/>
          </a:bodyPr>
          <a:lstStyle/>
          <a:p>
            <a:pPr marL="0" indent="0">
              <a:buNone/>
            </a:pPr>
            <a:r>
              <a:rPr lang="en-IN" b="1" dirty="0">
                <a:latin typeface="Times New Roman" panose="02020603050405020304" pitchFamily="18" charset="0"/>
                <a:cs typeface="Times New Roman" panose="02020603050405020304" pitchFamily="18" charset="0"/>
              </a:rPr>
              <a:t>6.1 CONCLUSION :- </a:t>
            </a:r>
          </a:p>
          <a:p>
            <a:pPr marL="0" indent="0">
              <a:buNone/>
            </a:pPr>
            <a:r>
              <a:rPr lang="en-US" dirty="0">
                <a:latin typeface="Times New Roman" panose="02020603050405020304" pitchFamily="18" charset="0"/>
                <a:cs typeface="Times New Roman" panose="02020603050405020304" pitchFamily="18" charset="0"/>
              </a:rPr>
              <a:t>This project helps illustrate the power of stack operations in managing a Last-In-First-Out (LIFO) mechanism, which is ideal for removing the most recently added items—a common need in shopping carts. Moreover, the program simulates an end-to-end shopping experience, from product selection to invoice generation, demonstrating strong foundational concepts in C programming, user interaction, and logic flow. </a:t>
            </a:r>
          </a:p>
          <a:p>
            <a:pPr marL="0" indent="0">
              <a:buNone/>
            </a:pPr>
            <a:r>
              <a:rPr lang="en-US" dirty="0">
                <a:latin typeface="Times New Roman" panose="02020603050405020304" pitchFamily="18" charset="0"/>
                <a:cs typeface="Times New Roman" panose="02020603050405020304" pitchFamily="18" charset="0"/>
              </a:rPr>
              <a:t>The project highlights the significance of structuring code using modular functions, which enhances readability, maintainability, and scalability. By leveraging structures for items and customers, it efficiently organizes and manages complex data. The use of condition checking (like full or empty cart scenarios) and input validations ensures robust user interactions. This system not only serves as a solid academic project but also lays the groundwork for more advanced e-commerce platforms by demonstrating the integration of data structures with practical features in a command-line environment. [5]</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DFFA7BC-1CA5-7562-EABD-790229FA8E38}"/>
              </a:ext>
            </a:extLst>
          </p:cNvPr>
          <p:cNvSpPr>
            <a:spLocks noGrp="1"/>
          </p:cNvSpPr>
          <p:nvPr>
            <p:ph type="sldNum" sz="quarter" idx="12"/>
          </p:nvPr>
        </p:nvSpPr>
        <p:spPr/>
        <p:txBody>
          <a:bodyPr/>
          <a:lstStyle/>
          <a:p>
            <a:fld id="{25F51578-6835-4416-9DA3-8DC2171AF31D}" type="slidenum">
              <a:rPr lang="en-IN" smtClean="0"/>
              <a:t>27</a:t>
            </a:fld>
            <a:endParaRPr lang="en-IN"/>
          </a:p>
        </p:txBody>
      </p:sp>
    </p:spTree>
    <p:extLst>
      <p:ext uri="{BB962C8B-B14F-4D97-AF65-F5344CB8AC3E}">
        <p14:creationId xmlns:p14="http://schemas.microsoft.com/office/powerpoint/2010/main" val="19479183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011122-36FB-DD39-C377-F6D87053583A}"/>
              </a:ext>
            </a:extLst>
          </p:cNvPr>
          <p:cNvSpPr>
            <a:spLocks noGrp="1"/>
          </p:cNvSpPr>
          <p:nvPr>
            <p:ph idx="1"/>
          </p:nvPr>
        </p:nvSpPr>
        <p:spPr>
          <a:xfrm>
            <a:off x="1066800" y="513347"/>
            <a:ext cx="10058400" cy="5794325"/>
          </a:xfrm>
        </p:spPr>
        <p:txBody>
          <a:bodyPr>
            <a:normAutofit fontScale="55000" lnSpcReduction="20000"/>
          </a:bodyPr>
          <a:lstStyle/>
          <a:p>
            <a:pPr marL="0" indent="0">
              <a:buNone/>
            </a:pPr>
            <a:r>
              <a:rPr lang="en-IN" b="1" dirty="0">
                <a:latin typeface="Times New Roman" panose="02020603050405020304" pitchFamily="18" charset="0"/>
                <a:cs typeface="Times New Roman" panose="02020603050405020304" pitchFamily="18" charset="0"/>
              </a:rPr>
              <a:t>6.2 FUTURE WORK :- </a:t>
            </a:r>
          </a:p>
          <a:p>
            <a:pPr marL="0" indent="0">
              <a:buNone/>
            </a:pPr>
            <a:r>
              <a:rPr lang="en-US" dirty="0">
                <a:latin typeface="Times New Roman" panose="02020603050405020304" pitchFamily="18" charset="0"/>
                <a:cs typeface="Times New Roman" panose="02020603050405020304" pitchFamily="18" charset="0"/>
              </a:rPr>
              <a:t>Several enhancements can be made to improve the current system: </a:t>
            </a:r>
          </a:p>
          <a:p>
            <a:pPr marL="0" indent="0">
              <a:buNone/>
            </a:pPr>
            <a:r>
              <a:rPr lang="en-US" dirty="0">
                <a:latin typeface="Times New Roman" panose="02020603050405020304" pitchFamily="18" charset="0"/>
                <a:cs typeface="Times New Roman" panose="02020603050405020304" pitchFamily="18" charset="0"/>
              </a:rPr>
              <a:t>1.Database Integration: </a:t>
            </a:r>
          </a:p>
          <a:p>
            <a:pPr marL="0" indent="0">
              <a:buNone/>
            </a:pPr>
            <a:r>
              <a:rPr lang="en-US" dirty="0">
                <a:latin typeface="Times New Roman" panose="02020603050405020304" pitchFamily="18" charset="0"/>
                <a:cs typeface="Times New Roman" panose="02020603050405020304" pitchFamily="18" charset="0"/>
              </a:rPr>
              <a:t>Use a database (e.g., MySQL or SQLite) to store products, customer details, and purchase history for better data management and persistence. </a:t>
            </a:r>
          </a:p>
          <a:p>
            <a:pPr marL="0" indent="0">
              <a:buNone/>
            </a:pPr>
            <a:r>
              <a:rPr lang="en-US" dirty="0">
                <a:latin typeface="Times New Roman" panose="02020603050405020304" pitchFamily="18" charset="0"/>
                <a:cs typeface="Times New Roman" panose="02020603050405020304" pitchFamily="18" charset="0"/>
              </a:rPr>
              <a:t>2. Graphical User Interface (GUI): </a:t>
            </a:r>
          </a:p>
          <a:p>
            <a:pPr marL="0" indent="0">
              <a:buNone/>
            </a:pPr>
            <a:r>
              <a:rPr lang="en-US" dirty="0">
                <a:latin typeface="Times New Roman" panose="02020603050405020304" pitchFamily="18" charset="0"/>
                <a:cs typeface="Times New Roman" panose="02020603050405020304" pitchFamily="18" charset="0"/>
              </a:rPr>
              <a:t>Develop a GUI using tools like GTK, Qt, or Python-</a:t>
            </a:r>
            <a:r>
              <a:rPr lang="en-US" dirty="0" err="1">
                <a:latin typeface="Times New Roman" panose="02020603050405020304" pitchFamily="18" charset="0"/>
                <a:cs typeface="Times New Roman" panose="02020603050405020304" pitchFamily="18" charset="0"/>
              </a:rPr>
              <a:t>Tkinter</a:t>
            </a:r>
            <a:r>
              <a:rPr lang="en-US" dirty="0">
                <a:latin typeface="Times New Roman" panose="02020603050405020304" pitchFamily="18" charset="0"/>
                <a:cs typeface="Times New Roman" panose="02020603050405020304" pitchFamily="18" charset="0"/>
              </a:rPr>
              <a:t> for a more interactive and modern user experience. </a:t>
            </a:r>
          </a:p>
          <a:p>
            <a:pPr marL="0" indent="0">
              <a:buNone/>
            </a:pPr>
            <a:r>
              <a:rPr lang="en-US" dirty="0">
                <a:latin typeface="Times New Roman" panose="02020603050405020304" pitchFamily="18" charset="0"/>
                <a:cs typeface="Times New Roman" panose="02020603050405020304" pitchFamily="18" charset="0"/>
              </a:rPr>
              <a:t>3. Login System: </a:t>
            </a:r>
          </a:p>
          <a:p>
            <a:pPr marL="0" indent="0">
              <a:buNone/>
            </a:pPr>
            <a:r>
              <a:rPr lang="en-US" dirty="0">
                <a:latin typeface="Times New Roman" panose="02020603050405020304" pitchFamily="18" charset="0"/>
                <a:cs typeface="Times New Roman" panose="02020603050405020304" pitchFamily="18" charset="0"/>
              </a:rPr>
              <a:t>Add user authentication and profiles for personalized shopping, saving carts, and tracking orders. </a:t>
            </a:r>
          </a:p>
          <a:p>
            <a:pPr marL="0" indent="0">
              <a:buNone/>
            </a:pPr>
            <a:r>
              <a:rPr lang="en-US" dirty="0">
                <a:latin typeface="Times New Roman" panose="02020603050405020304" pitchFamily="18" charset="0"/>
                <a:cs typeface="Times New Roman" panose="02020603050405020304" pitchFamily="18" charset="0"/>
              </a:rPr>
              <a:t>4. Enhanced Discounts &amp; Promotions:</a:t>
            </a:r>
          </a:p>
          <a:p>
            <a:pPr marL="0" indent="0">
              <a:buNone/>
            </a:pPr>
            <a:r>
              <a:rPr lang="en-US" dirty="0">
                <a:latin typeface="Times New Roman" panose="02020603050405020304" pitchFamily="18" charset="0"/>
                <a:cs typeface="Times New Roman" panose="02020603050405020304" pitchFamily="18" charset="0"/>
              </a:rPr>
              <a:t> Implement dynamic pricing, coupon codes, festive discounts, and loyalty rewards based on user purchase history. </a:t>
            </a:r>
          </a:p>
          <a:p>
            <a:pPr marL="0" indent="0">
              <a:buNone/>
            </a:pPr>
            <a:r>
              <a:rPr lang="en-US" dirty="0">
                <a:latin typeface="Times New Roman" panose="02020603050405020304" pitchFamily="18" charset="0"/>
                <a:cs typeface="Times New Roman" panose="02020603050405020304" pitchFamily="18" charset="0"/>
              </a:rPr>
              <a:t>5. Inventory Management: </a:t>
            </a:r>
          </a:p>
          <a:p>
            <a:pPr marL="0" indent="0">
              <a:buNone/>
            </a:pPr>
            <a:r>
              <a:rPr lang="en-US" dirty="0">
                <a:latin typeface="Times New Roman" panose="02020603050405020304" pitchFamily="18" charset="0"/>
                <a:cs typeface="Times New Roman" panose="02020603050405020304" pitchFamily="18" charset="0"/>
              </a:rPr>
              <a:t>Track real-time product availability and update stock after each transaction. </a:t>
            </a:r>
          </a:p>
          <a:p>
            <a:pPr marL="0" indent="0">
              <a:buNone/>
            </a:pPr>
            <a:r>
              <a:rPr lang="en-US" dirty="0">
                <a:latin typeface="Times New Roman" panose="02020603050405020304" pitchFamily="18" charset="0"/>
                <a:cs typeface="Times New Roman" panose="02020603050405020304" pitchFamily="18" charset="0"/>
              </a:rPr>
              <a:t>6. Search and Filter Features: Improve the user experience by allowing keyword-based product searches, category filters, and sorting options. </a:t>
            </a:r>
          </a:p>
          <a:p>
            <a:pPr marL="0" indent="0">
              <a:buNone/>
            </a:pPr>
            <a:r>
              <a:rPr lang="en-US" dirty="0">
                <a:latin typeface="Times New Roman" panose="02020603050405020304" pitchFamily="18" charset="0"/>
                <a:cs typeface="Times New Roman" panose="02020603050405020304" pitchFamily="18" charset="0"/>
              </a:rPr>
              <a:t>7. Multi-Data Structure Support: </a:t>
            </a:r>
          </a:p>
          <a:p>
            <a:pPr marL="0" indent="0">
              <a:buNone/>
            </a:pPr>
            <a:r>
              <a:rPr lang="en-US" dirty="0">
                <a:latin typeface="Times New Roman" panose="02020603050405020304" pitchFamily="18" charset="0"/>
                <a:cs typeface="Times New Roman" panose="02020603050405020304" pitchFamily="18" charset="0"/>
              </a:rPr>
              <a:t>Use other data structures like queues (for order processing), linked lists (for dynamic cart size), and trees (for category-wise product classification). </a:t>
            </a:r>
          </a:p>
          <a:p>
            <a:pPr marL="0" indent="0">
              <a:buNone/>
            </a:pPr>
            <a:r>
              <a:rPr lang="en-US" dirty="0">
                <a:latin typeface="Times New Roman" panose="02020603050405020304" pitchFamily="18" charset="0"/>
                <a:cs typeface="Times New Roman" panose="02020603050405020304" pitchFamily="18" charset="0"/>
              </a:rPr>
              <a:t>8. Mobile App Version: Extend the system to mobile platforms using Android Studio or Flutter for better accessibility.[6]</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96FC25F-1593-F391-3231-7D720434D919}"/>
              </a:ext>
            </a:extLst>
          </p:cNvPr>
          <p:cNvSpPr>
            <a:spLocks noGrp="1"/>
          </p:cNvSpPr>
          <p:nvPr>
            <p:ph type="sldNum" sz="quarter" idx="12"/>
          </p:nvPr>
        </p:nvSpPr>
        <p:spPr/>
        <p:txBody>
          <a:bodyPr/>
          <a:lstStyle/>
          <a:p>
            <a:fld id="{25F51578-6835-4416-9DA3-8DC2171AF31D}" type="slidenum">
              <a:rPr lang="en-IN" smtClean="0"/>
              <a:t>28</a:t>
            </a:fld>
            <a:endParaRPr lang="en-IN"/>
          </a:p>
        </p:txBody>
      </p:sp>
    </p:spTree>
    <p:extLst>
      <p:ext uri="{BB962C8B-B14F-4D97-AF65-F5344CB8AC3E}">
        <p14:creationId xmlns:p14="http://schemas.microsoft.com/office/powerpoint/2010/main" val="20311755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B5A62-73BE-8BC7-515F-B97B70196950}"/>
              </a:ext>
            </a:extLst>
          </p:cNvPr>
          <p:cNvSpPr>
            <a:spLocks noGrp="1"/>
          </p:cNvSpPr>
          <p:nvPr>
            <p:ph type="title"/>
          </p:nvPr>
        </p:nvSpPr>
        <p:spPr/>
        <p:txBody>
          <a:bodyPr>
            <a:normAutofit/>
          </a:bodyPr>
          <a:lstStyle/>
          <a:p>
            <a:pPr algn="ctr"/>
            <a:r>
              <a:rPr lang="en-IN" dirty="0">
                <a:latin typeface="Times New Roman" panose="02020603050405020304" pitchFamily="18" charset="0"/>
                <a:cs typeface="Times New Roman" panose="02020603050405020304" pitchFamily="18" charset="0"/>
              </a:rPr>
              <a:t>CHAPTER 7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2FBCFE61-A48B-E2EB-4B8C-F58F8B78C4E3}"/>
              </a:ext>
            </a:extLst>
          </p:cNvPr>
          <p:cNvSpPr>
            <a:spLocks noGrp="1"/>
          </p:cNvSpPr>
          <p:nvPr>
            <p:ph idx="1"/>
          </p:nvPr>
        </p:nvSpPr>
        <p:spPr/>
        <p:txBody>
          <a:bodyPr/>
          <a:lstStyle/>
          <a:p>
            <a:pPr marL="0" indent="0">
              <a:buNone/>
            </a:pPr>
            <a:r>
              <a:rPr lang="en-IN" dirty="0">
                <a:latin typeface="Times New Roman" panose="02020603050405020304" pitchFamily="18" charset="0"/>
                <a:cs typeface="Times New Roman" panose="02020603050405020304" pitchFamily="18" charset="0"/>
              </a:rPr>
              <a:t>[1] Aho, A. V., Hopcroft, J. E., &amp; Ullman, J. D. (1983). Data Structures and Algorithms. Addison-Wesley. </a:t>
            </a:r>
          </a:p>
          <a:p>
            <a:pPr marL="0" indent="0">
              <a:buNone/>
            </a:pPr>
            <a:r>
              <a:rPr lang="en-IN" dirty="0">
                <a:latin typeface="Times New Roman" panose="02020603050405020304" pitchFamily="18" charset="0"/>
                <a:cs typeface="Times New Roman" panose="02020603050405020304" pitchFamily="18" charset="0"/>
              </a:rPr>
              <a:t>[2] Kernighan and Ritchie (1988) Data Structures Using C. Prentice Hall. </a:t>
            </a:r>
          </a:p>
          <a:p>
            <a:pPr marL="0" indent="0">
              <a:buNone/>
            </a:pPr>
            <a:r>
              <a:rPr lang="en-IN" dirty="0">
                <a:latin typeface="Times New Roman" panose="02020603050405020304" pitchFamily="18" charset="0"/>
                <a:cs typeface="Times New Roman" panose="02020603050405020304" pitchFamily="18" charset="0"/>
              </a:rPr>
              <a:t>[3] Singh &amp; Sharma (2020) in "Efficient Data Structures using C Programming Language. [4] Silberschatz, A., Galvin, P. B., &amp; Gagne, G. (2018). Operating System Concepts (10th ed.). Wiley. </a:t>
            </a:r>
          </a:p>
          <a:p>
            <a:pPr marL="0" indent="0">
              <a:buNone/>
            </a:pPr>
            <a:r>
              <a:rPr lang="en-IN" dirty="0">
                <a:latin typeface="Times New Roman" panose="02020603050405020304" pitchFamily="18" charset="0"/>
                <a:cs typeface="Times New Roman" panose="02020603050405020304" pitchFamily="18" charset="0"/>
              </a:rPr>
              <a:t>[5] Aho, A. V., Hopcroft, J. E., &amp; Ullman, J. D. (1983). Data Structures and Algorithms. Addison-Wesley. [6] Lafore, R. (2002). Data Structures and Algorithms in C++ (2nd ed.). Sams Publishing.</a:t>
            </a:r>
          </a:p>
        </p:txBody>
      </p:sp>
      <p:sp>
        <p:nvSpPr>
          <p:cNvPr id="4" name="Slide Number Placeholder 3">
            <a:extLst>
              <a:ext uri="{FF2B5EF4-FFF2-40B4-BE49-F238E27FC236}">
                <a16:creationId xmlns:a16="http://schemas.microsoft.com/office/drawing/2014/main" id="{C24DB20B-172D-9F80-624D-99AA665569B3}"/>
              </a:ext>
            </a:extLst>
          </p:cNvPr>
          <p:cNvSpPr>
            <a:spLocks noGrp="1"/>
          </p:cNvSpPr>
          <p:nvPr>
            <p:ph type="sldNum" sz="quarter" idx="12"/>
          </p:nvPr>
        </p:nvSpPr>
        <p:spPr/>
        <p:txBody>
          <a:bodyPr/>
          <a:lstStyle/>
          <a:p>
            <a:fld id="{25F51578-6835-4416-9DA3-8DC2171AF31D}" type="slidenum">
              <a:rPr lang="en-IN" smtClean="0"/>
              <a:t>29</a:t>
            </a:fld>
            <a:endParaRPr lang="en-IN"/>
          </a:p>
        </p:txBody>
      </p:sp>
    </p:spTree>
    <p:extLst>
      <p:ext uri="{BB962C8B-B14F-4D97-AF65-F5344CB8AC3E}">
        <p14:creationId xmlns:p14="http://schemas.microsoft.com/office/powerpoint/2010/main" val="15895228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138</TotalTime>
  <Words>3391</Words>
  <Application>Microsoft Office PowerPoint</Application>
  <PresentationFormat>Widescreen</PresentationFormat>
  <Paragraphs>289</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Calibri Light</vt:lpstr>
      <vt:lpstr>Times New Roman</vt:lpstr>
      <vt:lpstr>Office Theme</vt:lpstr>
      <vt:lpstr>E-COMMERCE SHOPPING CART SYSTEM IN C </vt:lpstr>
      <vt:lpstr>ACKNOWLEDGMENT </vt:lpstr>
      <vt:lpstr>ABSTRACT</vt:lpstr>
      <vt:lpstr>CHAPTER 1 INTRODUCTION</vt:lpstr>
      <vt:lpstr>PowerPoint Presentation</vt:lpstr>
      <vt:lpstr>PowerPoint Presentation</vt:lpstr>
      <vt:lpstr>CHAPTER 2  LITERATURE REVIEW</vt:lpstr>
      <vt:lpstr>PowerPoint Presentation</vt:lpstr>
      <vt:lpstr>PowerPoint Presentation</vt:lpstr>
      <vt:lpstr>PowerPoint Presentation</vt:lpstr>
      <vt:lpstr>CHAPTER 3  METHODOLOGY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CHAPTER 4  IMPLEMENTATION </vt:lpstr>
      <vt:lpstr>PowerPoint Presentation</vt:lpstr>
      <vt:lpstr>CHAPTER 5  RESULTS AND DISCUSSIONS </vt:lpstr>
      <vt:lpstr>PowerPoint Presentation</vt:lpstr>
      <vt:lpstr>PowerPoint Presentation</vt:lpstr>
      <vt:lpstr>PowerPoint Presentation</vt:lpstr>
      <vt:lpstr>PowerPoint Presentation</vt:lpstr>
      <vt:lpstr>CHAPTER 6  CONCLUSIONS AND FUTURE WORK </vt:lpstr>
      <vt:lpstr>PowerPoint Presentation</vt:lpstr>
      <vt:lpstr>CHAPTER 7  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GANESH SRINIVASAN</dc:creator>
  <cp:lastModifiedBy>HARIGANESH V</cp:lastModifiedBy>
  <cp:revision>4</cp:revision>
  <dcterms:created xsi:type="dcterms:W3CDTF">2025-04-15T08:22:08Z</dcterms:created>
  <dcterms:modified xsi:type="dcterms:W3CDTF">2025-04-20T17:17:10Z</dcterms:modified>
</cp:coreProperties>
</file>